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B67D16-220E-4339-854F-4406163CB03A}" v="7" dt="2026-08-20T04:17:16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kannan" userId="bfa8954d3bede0f5" providerId="LiveId" clId="{FA599CC1-1339-4173-B8DA-DE9C4FAABF34}"/>
    <pc:docChg chg="modSld">
      <pc:chgData name="Jan kannan" userId="bfa8954d3bede0f5" providerId="LiveId" clId="{FA599CC1-1339-4173-B8DA-DE9C4FAABF34}" dt="2026-08-20T04:17:21.756" v="625" actId="20577"/>
      <pc:docMkLst>
        <pc:docMk/>
      </pc:docMkLst>
      <pc:sldChg chg="modSp mod">
        <pc:chgData name="Jan kannan" userId="bfa8954d3bede0f5" providerId="LiveId" clId="{FA599CC1-1339-4173-B8DA-DE9C4FAABF34}" dt="2026-08-18T15:55:13.270" v="148" actId="20577"/>
        <pc:sldMkLst>
          <pc:docMk/>
          <pc:sldMk cId="0" sldId="256"/>
        </pc:sldMkLst>
        <pc:spChg chg="mod">
          <ac:chgData name="Jan kannan" userId="bfa8954d3bede0f5" providerId="LiveId" clId="{FA599CC1-1339-4173-B8DA-DE9C4FAABF34}" dt="2026-08-18T15:55:13.270" v="148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Jan kannan" userId="bfa8954d3bede0f5" providerId="LiveId" clId="{FA599CC1-1339-4173-B8DA-DE9C4FAABF34}" dt="2026-08-18T15:54:34.285" v="75"/>
        <pc:sldMkLst>
          <pc:docMk/>
          <pc:sldMk cId="0" sldId="261"/>
        </pc:sldMkLst>
        <pc:spChg chg="mod">
          <ac:chgData name="Jan kannan" userId="bfa8954d3bede0f5" providerId="LiveId" clId="{FA599CC1-1339-4173-B8DA-DE9C4FAABF34}" dt="2026-08-18T15:54:34.285" v="75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Jan kannan" userId="bfa8954d3bede0f5" providerId="LiveId" clId="{FA599CC1-1339-4173-B8DA-DE9C4FAABF34}" dt="2026-08-20T04:17:21.756" v="625" actId="20577"/>
        <pc:sldMkLst>
          <pc:docMk/>
          <pc:sldMk cId="4216866056" sldId="264"/>
        </pc:sldMkLst>
        <pc:spChg chg="mod">
          <ac:chgData name="Jan kannan" userId="bfa8954d3bede0f5" providerId="LiveId" clId="{FA599CC1-1339-4173-B8DA-DE9C4FAABF34}" dt="2026-08-20T04:15:03.827" v="243" actId="20577"/>
          <ac:spMkLst>
            <pc:docMk/>
            <pc:sldMk cId="4216866056" sldId="264"/>
            <ac:spMk id="58" creationId="{F6ABB35C-5883-6F87-0BAC-B83678E5652D}"/>
          </ac:spMkLst>
        </pc:spChg>
        <pc:spChg chg="mod">
          <ac:chgData name="Jan kannan" userId="bfa8954d3bede0f5" providerId="LiveId" clId="{FA599CC1-1339-4173-B8DA-DE9C4FAABF34}" dt="2026-08-20T04:15:35.887" v="338" actId="20577"/>
          <ac:spMkLst>
            <pc:docMk/>
            <pc:sldMk cId="4216866056" sldId="264"/>
            <ac:spMk id="62" creationId="{28C0B0E2-1CE8-5D54-BD79-EBAFAA318D94}"/>
          </ac:spMkLst>
        </pc:spChg>
        <pc:spChg chg="mod">
          <ac:chgData name="Jan kannan" userId="bfa8954d3bede0f5" providerId="LiveId" clId="{FA599CC1-1339-4173-B8DA-DE9C4FAABF34}" dt="2026-08-20T04:16:15.376" v="435" actId="20577"/>
          <ac:spMkLst>
            <pc:docMk/>
            <pc:sldMk cId="4216866056" sldId="264"/>
            <ac:spMk id="66" creationId="{5028E215-0C8B-E06E-0649-E89FC5A0B8A8}"/>
          </ac:spMkLst>
        </pc:spChg>
        <pc:spChg chg="mod">
          <ac:chgData name="Jan kannan" userId="bfa8954d3bede0f5" providerId="LiveId" clId="{FA599CC1-1339-4173-B8DA-DE9C4FAABF34}" dt="2026-08-20T04:16:52.056" v="530" actId="20577"/>
          <ac:spMkLst>
            <pc:docMk/>
            <pc:sldMk cId="4216866056" sldId="264"/>
            <ac:spMk id="70" creationId="{1FFD9416-5F1A-9184-20E0-2E248074BCEB}"/>
          </ac:spMkLst>
        </pc:spChg>
        <pc:spChg chg="mod">
          <ac:chgData name="Jan kannan" userId="bfa8954d3bede0f5" providerId="LiveId" clId="{FA599CC1-1339-4173-B8DA-DE9C4FAABF34}" dt="2026-08-20T04:17:21.756" v="625" actId="20577"/>
          <ac:spMkLst>
            <pc:docMk/>
            <pc:sldMk cId="4216866056" sldId="264"/>
            <ac:spMk id="74" creationId="{13772811-B47A-D7BB-B519-273EB09C7EE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920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5C08C-91E8-1C65-903F-0EFB5A41E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AC2B5-EA99-A01F-19DE-197AFFFBC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B235F-5B6A-9F14-7465-D540789B4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2A14A-1033-1594-7961-DE0A52476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75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ln w="12700">
            <a:solidFill>
              <a:srgbClr val="0F6B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47208" y="685800"/>
            <a:ext cx="1097280" cy="1097280"/>
          </a:xfrm>
          <a:prstGeom prst="ellipse">
            <a:avLst/>
          </a:prstGeom>
          <a:solidFill>
            <a:srgbClr val="222222"/>
          </a:solidFill>
          <a:ln w="254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40" y="941832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659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233172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5000"/>
              </a:lnSpc>
            </a:pPr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Cyber Threat Analytics Platform with Incident Visualization System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Group 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645920" y="3657600"/>
            <a:ext cx="8899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solution for analyzing global cybersecurity threats, vulnerabilities, risks, financial impact, and defense effectiveness.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72888" y="4313355"/>
            <a:ext cx="1645920" cy="0"/>
          </a:xfrm>
          <a:prstGeom prst="line">
            <a:avLst/>
          </a:prstGeom>
          <a:noFill/>
          <a:ln w="15875">
            <a:solidFill>
              <a:srgbClr val="00D9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43484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kern="0" spc="2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399" y="484632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Janani G K  •  Nandana N Nair  •  Himanshu Kumar Soni</a:t>
            </a:r>
            <a:endParaRPr lang="en-US" sz="15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Narayani Kantamreddy  •  Gohitha Meghana N  •  Bindu Kotnala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5486400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5779008"/>
            <a:ext cx="10362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: Mrs. Nithyasri S J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68735" y="438912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00200"/>
            <a:ext cx="5394960" cy="448056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99522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51460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global cybersecurity incidents and identify major attack patterns and trends.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analyze vulnerabilities, risk levels, financial losses, affected users, and resolution time.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defense mechanisms and their effectiveness in handling cybersecurity threats.</a:t>
            </a:r>
            <a:endParaRPr lang="en-US" sz="1250" dirty="0"/>
          </a:p>
          <a:p>
            <a:pPr marL="203200" indent="-2032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interactive dashboards that provide meaningful data-driven cybersecurity insights.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422392" cy="448056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199522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Modules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583680" y="2606040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41" y="2702601"/>
            <a:ext cx="209215" cy="2092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50608" y="257860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583680" y="3246120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41" y="3342681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50608" y="32186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Attack Analysis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583680" y="3886200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0241" y="3982761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50608" y="385876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Country Risk Analysis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583680" y="4526280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0241" y="4622841"/>
            <a:ext cx="209215" cy="20921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150608" y="44988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&amp; Defense Analysis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583680" y="5166360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0241" y="5262921"/>
            <a:ext cx="209215" cy="20921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150608" y="513892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Financial Impact &amp; Pattern Analysis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 •  TEAM B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Execution Milestones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68735" y="438912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210312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20976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110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554480" y="2148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 &amp; Cleaning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the cybersecurity dataset and performed data cleaning, transformation, and preprocessing using Power Query.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440680" cy="210312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9634" y="20976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19110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269480" y="21488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653796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the cleaned dataset and created DAX measures and KPIs required for cybersecurity analysis.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069080"/>
            <a:ext cx="5440680" cy="210312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34" y="447507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2885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554480" y="4526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22960" y="51206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seven interactive Power BI dashboards with appropriate visualizations, slicers, and analytical components.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63640" y="4069080"/>
            <a:ext cx="5440680" cy="210312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37960" y="4343400"/>
            <a:ext cx="548640" cy="548640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9634" y="4475074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69480" y="42885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269480" y="4526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Optimization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6537960" y="51206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the dashboards, improved formatting and readability, validated calculations, and finalized the report and presentation for submission.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 •  TEAM B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EE664-4038-9DEE-1C0F-5D85CACF0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08;p7">
            <a:extLst>
              <a:ext uri="{FF2B5EF4-FFF2-40B4-BE49-F238E27FC236}">
                <a16:creationId xmlns:a16="http://schemas.microsoft.com/office/drawing/2014/main" id="{D53A5C23-715E-FD22-600D-BA8EA0031758}"/>
              </a:ext>
            </a:extLst>
          </p:cNvPr>
          <p:cNvSpPr/>
          <p:nvPr/>
        </p:nvSpPr>
        <p:spPr>
          <a:xfrm>
            <a:off x="548640" y="384048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D9FF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0D9FF"/>
                </a:solidFill>
                <a:latin typeface="Calibri"/>
                <a:ea typeface="Calibri"/>
                <a:cs typeface="Calibri"/>
                <a:sym typeface="Calibri"/>
              </a:rPr>
              <a:t>S E C T I O N 4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109;p7">
            <a:extLst>
              <a:ext uri="{FF2B5EF4-FFF2-40B4-BE49-F238E27FC236}">
                <a16:creationId xmlns:a16="http://schemas.microsoft.com/office/drawing/2014/main" id="{387A6949-57A3-A612-BF3F-70F5F36D13FA}"/>
              </a:ext>
            </a:extLst>
          </p:cNvPr>
          <p:cNvSpPr/>
          <p:nvPr/>
        </p:nvSpPr>
        <p:spPr>
          <a:xfrm>
            <a:off x="548640" y="658368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Project Workflow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110;p7">
            <a:extLst>
              <a:ext uri="{FF2B5EF4-FFF2-40B4-BE49-F238E27FC236}">
                <a16:creationId xmlns:a16="http://schemas.microsoft.com/office/drawing/2014/main" id="{2E279D3F-6D54-2210-72EA-90BC1604E6EF}"/>
              </a:ext>
            </a:extLst>
          </p:cNvPr>
          <p:cNvSpPr/>
          <p:nvPr/>
        </p:nvSpPr>
        <p:spPr>
          <a:xfrm>
            <a:off x="11368735" y="457200"/>
            <a:ext cx="128100" cy="1281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111;p7">
            <a:extLst>
              <a:ext uri="{FF2B5EF4-FFF2-40B4-BE49-F238E27FC236}">
                <a16:creationId xmlns:a16="http://schemas.microsoft.com/office/drawing/2014/main" id="{ACF04A5A-6AC0-B6F0-3A63-CCC1BE9CCACD}"/>
              </a:ext>
            </a:extLst>
          </p:cNvPr>
          <p:cNvSpPr/>
          <p:nvPr/>
        </p:nvSpPr>
        <p:spPr>
          <a:xfrm>
            <a:off x="457200" y="6473952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6B8F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0F6B8F"/>
                </a:solidFill>
                <a:latin typeface="Calibri"/>
                <a:ea typeface="Calibri"/>
                <a:cs typeface="Calibri"/>
                <a:sym typeface="Calibri"/>
              </a:rPr>
              <a:t>A D V A N C E D  T H R E A T  I N C I D E N T  A N A L YT I  C S   •            T E A M B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112;p7">
            <a:extLst>
              <a:ext uri="{FF2B5EF4-FFF2-40B4-BE49-F238E27FC236}">
                <a16:creationId xmlns:a16="http://schemas.microsoft.com/office/drawing/2014/main" id="{A1839804-32CA-833F-6171-3A7088C82090}"/>
              </a:ext>
            </a:extLst>
          </p:cNvPr>
          <p:cNvSpPr/>
          <p:nvPr/>
        </p:nvSpPr>
        <p:spPr>
          <a:xfrm>
            <a:off x="11277295" y="6473952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F6B8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F6B8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113;p7">
            <a:extLst>
              <a:ext uri="{FF2B5EF4-FFF2-40B4-BE49-F238E27FC236}">
                <a16:creationId xmlns:a16="http://schemas.microsoft.com/office/drawing/2014/main" id="{C90760F4-75C5-52D1-B344-63DCF229896A}"/>
              </a:ext>
            </a:extLst>
          </p:cNvPr>
          <p:cNvSpPr/>
          <p:nvPr/>
        </p:nvSpPr>
        <p:spPr>
          <a:xfrm>
            <a:off x="663940" y="994443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1600" b="1" u="sng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Advanced Threat Incident Analytics and Security Visualization Framework – Group 1</a:t>
            </a:r>
            <a:endParaRPr sz="1600" b="1" u="sng" dirty="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" name="Google Shape;114;p7">
            <a:extLst>
              <a:ext uri="{FF2B5EF4-FFF2-40B4-BE49-F238E27FC236}">
                <a16:creationId xmlns:a16="http://schemas.microsoft.com/office/drawing/2014/main" id="{AE3755B6-E774-BAF3-A271-6454575C87DA}"/>
              </a:ext>
            </a:extLst>
          </p:cNvPr>
          <p:cNvSpPr/>
          <p:nvPr/>
        </p:nvSpPr>
        <p:spPr>
          <a:xfrm>
            <a:off x="457200" y="1549625"/>
            <a:ext cx="2819100" cy="1174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325" tIns="137325" rIns="137325" bIns="137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3"/>
          </a:p>
        </p:txBody>
      </p:sp>
      <p:sp>
        <p:nvSpPr>
          <p:cNvPr id="46" name="Google Shape;115;p7">
            <a:extLst>
              <a:ext uri="{FF2B5EF4-FFF2-40B4-BE49-F238E27FC236}">
                <a16:creationId xmlns:a16="http://schemas.microsoft.com/office/drawing/2014/main" id="{37C03D94-FB74-EDDE-FD04-B9059E8F86CF}"/>
              </a:ext>
            </a:extLst>
          </p:cNvPr>
          <p:cNvSpPr txBox="1"/>
          <p:nvPr/>
        </p:nvSpPr>
        <p:spPr>
          <a:xfrm>
            <a:off x="521195" y="1549625"/>
            <a:ext cx="26910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325" tIns="137325" rIns="137325" bIns="137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b="1">
                <a:solidFill>
                  <a:schemeClr val="dk1"/>
                </a:solidFill>
              </a:rPr>
              <a:t>Problem Understanding</a:t>
            </a:r>
            <a:endParaRPr sz="120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>
                <a:solidFill>
                  <a:schemeClr val="dk1"/>
                </a:solidFill>
              </a:rPr>
              <a:t>Understand cybersecurity challenges, define the problem, objectives, and scope of the project.</a:t>
            </a:r>
            <a:endParaRPr sz="1202">
              <a:solidFill>
                <a:schemeClr val="dk1"/>
              </a:solidFill>
            </a:endParaRPr>
          </a:p>
        </p:txBody>
      </p:sp>
      <p:sp>
        <p:nvSpPr>
          <p:cNvPr id="48" name="Google Shape;116;p7">
            <a:extLst>
              <a:ext uri="{FF2B5EF4-FFF2-40B4-BE49-F238E27FC236}">
                <a16:creationId xmlns:a16="http://schemas.microsoft.com/office/drawing/2014/main" id="{1920EAE1-B56F-8580-014D-1F0455B6387E}"/>
              </a:ext>
            </a:extLst>
          </p:cNvPr>
          <p:cNvSpPr/>
          <p:nvPr/>
        </p:nvSpPr>
        <p:spPr>
          <a:xfrm>
            <a:off x="4648188" y="1549625"/>
            <a:ext cx="2818500" cy="1174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325" tIns="137325" rIns="137325" bIns="137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3"/>
          </a:p>
        </p:txBody>
      </p:sp>
      <p:sp>
        <p:nvSpPr>
          <p:cNvPr id="50" name="Google Shape;117;p7">
            <a:extLst>
              <a:ext uri="{FF2B5EF4-FFF2-40B4-BE49-F238E27FC236}">
                <a16:creationId xmlns:a16="http://schemas.microsoft.com/office/drawing/2014/main" id="{0E219333-91DD-66E8-11D7-0B98F7EDEDAE}"/>
              </a:ext>
            </a:extLst>
          </p:cNvPr>
          <p:cNvSpPr txBox="1"/>
          <p:nvPr/>
        </p:nvSpPr>
        <p:spPr>
          <a:xfrm>
            <a:off x="4712174" y="1549625"/>
            <a:ext cx="26904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325" tIns="137325" rIns="137325" bIns="137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b="1">
                <a:solidFill>
                  <a:schemeClr val="dk1"/>
                </a:solidFill>
              </a:rPr>
              <a:t>Data Collection </a:t>
            </a:r>
            <a:endParaRPr sz="120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>
                <a:solidFill>
                  <a:schemeClr val="dk1"/>
                </a:solidFill>
              </a:rPr>
              <a:t>Collect security event logs from sources like firewalls, IDS/IPS, servers, endpoints, and network devices.</a:t>
            </a:r>
            <a:endParaRPr sz="1202">
              <a:solidFill>
                <a:schemeClr val="dk1"/>
              </a:solidFill>
            </a:endParaRPr>
          </a:p>
        </p:txBody>
      </p:sp>
      <p:sp>
        <p:nvSpPr>
          <p:cNvPr id="52" name="Google Shape;118;p7">
            <a:extLst>
              <a:ext uri="{FF2B5EF4-FFF2-40B4-BE49-F238E27FC236}">
                <a16:creationId xmlns:a16="http://schemas.microsoft.com/office/drawing/2014/main" id="{B4E76EF9-1B62-69DE-31FF-86817C94FE9C}"/>
              </a:ext>
            </a:extLst>
          </p:cNvPr>
          <p:cNvSpPr/>
          <p:nvPr/>
        </p:nvSpPr>
        <p:spPr>
          <a:xfrm>
            <a:off x="8838516" y="1549625"/>
            <a:ext cx="2818500" cy="1174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325" tIns="137325" rIns="137325" bIns="137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3"/>
          </a:p>
        </p:txBody>
      </p:sp>
      <p:sp>
        <p:nvSpPr>
          <p:cNvPr id="54" name="Google Shape;119;p7">
            <a:extLst>
              <a:ext uri="{FF2B5EF4-FFF2-40B4-BE49-F238E27FC236}">
                <a16:creationId xmlns:a16="http://schemas.microsoft.com/office/drawing/2014/main" id="{435A3CD7-374F-8ABB-8003-668C3E3826F1}"/>
              </a:ext>
            </a:extLst>
          </p:cNvPr>
          <p:cNvSpPr txBox="1"/>
          <p:nvPr/>
        </p:nvSpPr>
        <p:spPr>
          <a:xfrm>
            <a:off x="8902502" y="1549625"/>
            <a:ext cx="26904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325" tIns="137325" rIns="137325" bIns="137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b="1">
                <a:solidFill>
                  <a:schemeClr val="dk1"/>
                </a:solidFill>
              </a:rPr>
              <a:t>Data Understanding</a:t>
            </a:r>
            <a:endParaRPr sz="120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>
                <a:solidFill>
                  <a:schemeClr val="dk1"/>
                </a:solidFill>
              </a:rPr>
              <a:t>Explore the collected data to understand its structure, patterns, and quality.</a:t>
            </a:r>
            <a:endParaRPr sz="1202">
              <a:solidFill>
                <a:schemeClr val="dk1"/>
              </a:solidFill>
            </a:endParaRPr>
          </a:p>
        </p:txBody>
      </p:sp>
      <p:sp>
        <p:nvSpPr>
          <p:cNvPr id="56" name="Google Shape;120;p7">
            <a:extLst>
              <a:ext uri="{FF2B5EF4-FFF2-40B4-BE49-F238E27FC236}">
                <a16:creationId xmlns:a16="http://schemas.microsoft.com/office/drawing/2014/main" id="{81C69205-45B6-A506-3320-63B5839E1D4C}"/>
              </a:ext>
            </a:extLst>
          </p:cNvPr>
          <p:cNvSpPr/>
          <p:nvPr/>
        </p:nvSpPr>
        <p:spPr>
          <a:xfrm>
            <a:off x="7466597" y="3376353"/>
            <a:ext cx="2818500" cy="1174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325" tIns="137325" rIns="137325" bIns="137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3"/>
          </a:p>
        </p:txBody>
      </p:sp>
      <p:sp>
        <p:nvSpPr>
          <p:cNvPr id="58" name="Google Shape;121;p7">
            <a:extLst>
              <a:ext uri="{FF2B5EF4-FFF2-40B4-BE49-F238E27FC236}">
                <a16:creationId xmlns:a16="http://schemas.microsoft.com/office/drawing/2014/main" id="{F6ABB35C-5883-6F87-0BAC-B83678E5652D}"/>
              </a:ext>
            </a:extLst>
          </p:cNvPr>
          <p:cNvSpPr txBox="1"/>
          <p:nvPr/>
        </p:nvSpPr>
        <p:spPr>
          <a:xfrm>
            <a:off x="7530583" y="3376353"/>
            <a:ext cx="26904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325" tIns="137325" rIns="137325" bIns="137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b="1" dirty="0">
                <a:solidFill>
                  <a:schemeClr val="dk1"/>
                </a:solidFill>
              </a:rPr>
              <a:t>Data Connection</a:t>
            </a:r>
            <a:endParaRPr sz="1202" b="1" dirty="0">
              <a:solidFill>
                <a:schemeClr val="dk1"/>
              </a:solidFill>
            </a:endParaRPr>
          </a:p>
          <a:p>
            <a:pPr lvl="0"/>
            <a:r>
              <a:rPr lang="en-US" sz="1202" dirty="0">
                <a:solidFill>
                  <a:schemeClr val="dk1"/>
                </a:solidFill>
              </a:rPr>
              <a:t>Connect and integrate data from multiple sources into. a centralized environment.</a:t>
            </a:r>
            <a:endParaRPr sz="1202" dirty="0">
              <a:solidFill>
                <a:schemeClr val="dk1"/>
              </a:solidFill>
            </a:endParaRPr>
          </a:p>
        </p:txBody>
      </p:sp>
      <p:sp>
        <p:nvSpPr>
          <p:cNvPr id="60" name="Google Shape;122;p7">
            <a:extLst>
              <a:ext uri="{FF2B5EF4-FFF2-40B4-BE49-F238E27FC236}">
                <a16:creationId xmlns:a16="http://schemas.microsoft.com/office/drawing/2014/main" id="{80DFBE32-1DB3-1E3C-D9AB-29C33C1E02B8}"/>
              </a:ext>
            </a:extLst>
          </p:cNvPr>
          <p:cNvSpPr/>
          <p:nvPr/>
        </p:nvSpPr>
        <p:spPr>
          <a:xfrm>
            <a:off x="1829779" y="3376353"/>
            <a:ext cx="2818500" cy="1174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325" tIns="137325" rIns="137325" bIns="137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3"/>
          </a:p>
        </p:txBody>
      </p:sp>
      <p:sp>
        <p:nvSpPr>
          <p:cNvPr id="62" name="Google Shape;123;p7">
            <a:extLst>
              <a:ext uri="{FF2B5EF4-FFF2-40B4-BE49-F238E27FC236}">
                <a16:creationId xmlns:a16="http://schemas.microsoft.com/office/drawing/2014/main" id="{28C0B0E2-1CE8-5D54-BD79-EBAFAA318D94}"/>
              </a:ext>
            </a:extLst>
          </p:cNvPr>
          <p:cNvSpPr txBox="1"/>
          <p:nvPr/>
        </p:nvSpPr>
        <p:spPr>
          <a:xfrm>
            <a:off x="1893765" y="3376353"/>
            <a:ext cx="26904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325" tIns="137325" rIns="137325" bIns="137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b="1" dirty="0">
                <a:solidFill>
                  <a:schemeClr val="dk1"/>
                </a:solidFill>
              </a:rPr>
              <a:t>Data Preprocessing</a:t>
            </a:r>
            <a:endParaRPr sz="1202" b="1" dirty="0">
              <a:solidFill>
                <a:schemeClr val="dk1"/>
              </a:solidFill>
            </a:endParaRPr>
          </a:p>
          <a:p>
            <a:pPr lvl="0"/>
            <a:r>
              <a:rPr lang="en-US" sz="1202" dirty="0">
                <a:solidFill>
                  <a:schemeClr val="dk1"/>
                </a:solidFill>
              </a:rPr>
              <a:t>Clean, filter, transform, and prepare the data for analysis and modeling.</a:t>
            </a:r>
            <a:endParaRPr sz="1202" dirty="0">
              <a:solidFill>
                <a:schemeClr val="dk1"/>
              </a:solidFill>
            </a:endParaRPr>
          </a:p>
        </p:txBody>
      </p:sp>
      <p:sp>
        <p:nvSpPr>
          <p:cNvPr id="64" name="Google Shape;124;p7">
            <a:extLst>
              <a:ext uri="{FF2B5EF4-FFF2-40B4-BE49-F238E27FC236}">
                <a16:creationId xmlns:a16="http://schemas.microsoft.com/office/drawing/2014/main" id="{B0B7B92C-5BE6-6547-8E12-403448F62563}"/>
              </a:ext>
            </a:extLst>
          </p:cNvPr>
          <p:cNvSpPr/>
          <p:nvPr/>
        </p:nvSpPr>
        <p:spPr>
          <a:xfrm>
            <a:off x="521197" y="5203081"/>
            <a:ext cx="2818500" cy="1174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325" tIns="137325" rIns="137325" bIns="137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3"/>
          </a:p>
        </p:txBody>
      </p:sp>
      <p:sp>
        <p:nvSpPr>
          <p:cNvPr id="66" name="Google Shape;125;p7">
            <a:extLst>
              <a:ext uri="{FF2B5EF4-FFF2-40B4-BE49-F238E27FC236}">
                <a16:creationId xmlns:a16="http://schemas.microsoft.com/office/drawing/2014/main" id="{5028E215-0C8B-E06E-0649-E89FC5A0B8A8}"/>
              </a:ext>
            </a:extLst>
          </p:cNvPr>
          <p:cNvSpPr txBox="1"/>
          <p:nvPr/>
        </p:nvSpPr>
        <p:spPr>
          <a:xfrm>
            <a:off x="585183" y="5203081"/>
            <a:ext cx="26904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325" tIns="137325" rIns="137325" bIns="137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b="1" dirty="0">
                <a:solidFill>
                  <a:schemeClr val="dk1"/>
                </a:solidFill>
              </a:rPr>
              <a:t>Data Modeling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dirty="0">
                <a:solidFill>
                  <a:schemeClr val="dk1"/>
                </a:solidFill>
              </a:rPr>
              <a:t>Apply analytical techniques and machine learning models to detect threats, anomalies, and incident patterns.</a:t>
            </a:r>
            <a:endParaRPr sz="1202" dirty="0">
              <a:solidFill>
                <a:schemeClr val="dk1"/>
              </a:solidFill>
            </a:endParaRPr>
          </a:p>
        </p:txBody>
      </p:sp>
      <p:sp>
        <p:nvSpPr>
          <p:cNvPr id="68" name="Google Shape;126;p7">
            <a:extLst>
              <a:ext uri="{FF2B5EF4-FFF2-40B4-BE49-F238E27FC236}">
                <a16:creationId xmlns:a16="http://schemas.microsoft.com/office/drawing/2014/main" id="{CE30B0D3-47FC-4242-A388-B38ECE427253}"/>
              </a:ext>
            </a:extLst>
          </p:cNvPr>
          <p:cNvSpPr/>
          <p:nvPr/>
        </p:nvSpPr>
        <p:spPr>
          <a:xfrm>
            <a:off x="4648188" y="5203081"/>
            <a:ext cx="2818500" cy="1174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325" tIns="137325" rIns="137325" bIns="137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3"/>
          </a:p>
        </p:txBody>
      </p:sp>
      <p:sp>
        <p:nvSpPr>
          <p:cNvPr id="70" name="Google Shape;127;p7">
            <a:extLst>
              <a:ext uri="{FF2B5EF4-FFF2-40B4-BE49-F238E27FC236}">
                <a16:creationId xmlns:a16="http://schemas.microsoft.com/office/drawing/2014/main" id="{1FFD9416-5F1A-9184-20E0-2E248074BCEB}"/>
              </a:ext>
            </a:extLst>
          </p:cNvPr>
          <p:cNvSpPr txBox="1"/>
          <p:nvPr/>
        </p:nvSpPr>
        <p:spPr>
          <a:xfrm>
            <a:off x="4712174" y="5203081"/>
            <a:ext cx="26904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325" tIns="137325" rIns="137325" bIns="137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b="1" dirty="0">
                <a:solidFill>
                  <a:schemeClr val="dk1"/>
                </a:solidFill>
              </a:rPr>
              <a:t>Data Visualization</a:t>
            </a:r>
            <a:endParaRPr sz="1202" b="1" dirty="0">
              <a:solidFill>
                <a:schemeClr val="dk1"/>
              </a:solidFill>
            </a:endParaRPr>
          </a:p>
          <a:p>
            <a:pPr lvl="0"/>
            <a:r>
              <a:rPr lang="en-US" sz="1202" dirty="0">
                <a:solidFill>
                  <a:schemeClr val="dk1"/>
                </a:solidFill>
              </a:rPr>
              <a:t>Create interactive dashboards and visual reports to present security insights clearly.</a:t>
            </a:r>
            <a:endParaRPr sz="1202" dirty="0">
              <a:solidFill>
                <a:schemeClr val="dk1"/>
              </a:solidFill>
            </a:endParaRPr>
          </a:p>
        </p:txBody>
      </p:sp>
      <p:sp>
        <p:nvSpPr>
          <p:cNvPr id="72" name="Google Shape;128;p7">
            <a:extLst>
              <a:ext uri="{FF2B5EF4-FFF2-40B4-BE49-F238E27FC236}">
                <a16:creationId xmlns:a16="http://schemas.microsoft.com/office/drawing/2014/main" id="{4778F5B3-A021-6C4B-576E-72B79AF4599B}"/>
              </a:ext>
            </a:extLst>
          </p:cNvPr>
          <p:cNvSpPr/>
          <p:nvPr/>
        </p:nvSpPr>
        <p:spPr>
          <a:xfrm>
            <a:off x="8839066" y="5203081"/>
            <a:ext cx="2818500" cy="1174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143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325" tIns="137325" rIns="137325" bIns="137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3"/>
          </a:p>
        </p:txBody>
      </p:sp>
      <p:sp>
        <p:nvSpPr>
          <p:cNvPr id="74" name="Google Shape;129;p7">
            <a:extLst>
              <a:ext uri="{FF2B5EF4-FFF2-40B4-BE49-F238E27FC236}">
                <a16:creationId xmlns:a16="http://schemas.microsoft.com/office/drawing/2014/main" id="{13772811-B47A-D7BB-B519-273EB09C7EE8}"/>
              </a:ext>
            </a:extLst>
          </p:cNvPr>
          <p:cNvSpPr txBox="1"/>
          <p:nvPr/>
        </p:nvSpPr>
        <p:spPr>
          <a:xfrm>
            <a:off x="8903052" y="5203081"/>
            <a:ext cx="26904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325" tIns="137325" rIns="137325" bIns="137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2" b="1" dirty="0">
                <a:solidFill>
                  <a:schemeClr val="dk1"/>
                </a:solidFill>
              </a:rPr>
              <a:t>Share / Publish Report</a:t>
            </a:r>
            <a:endParaRPr sz="1202" b="1" dirty="0">
              <a:solidFill>
                <a:schemeClr val="dk1"/>
              </a:solidFill>
            </a:endParaRPr>
          </a:p>
          <a:p>
            <a:pPr lvl="0"/>
            <a:r>
              <a:rPr lang="en-US" sz="1202">
                <a:solidFill>
                  <a:schemeClr val="dk1"/>
                </a:solidFill>
              </a:rPr>
              <a:t>Share </a:t>
            </a:r>
            <a:r>
              <a:rPr lang="en-US" sz="1202" dirty="0">
                <a:solidFill>
                  <a:schemeClr val="dk1"/>
                </a:solidFill>
              </a:rPr>
              <a:t>and publish dashboards/reports with stakeholders for timely decision-making and action.</a:t>
            </a:r>
            <a:endParaRPr sz="1202" dirty="0">
              <a:solidFill>
                <a:schemeClr val="dk1"/>
              </a:solidFill>
            </a:endParaRPr>
          </a:p>
        </p:txBody>
      </p:sp>
      <p:sp>
        <p:nvSpPr>
          <p:cNvPr id="76" name="Google Shape;130;p7">
            <a:extLst>
              <a:ext uri="{FF2B5EF4-FFF2-40B4-BE49-F238E27FC236}">
                <a16:creationId xmlns:a16="http://schemas.microsoft.com/office/drawing/2014/main" id="{F455F395-49D1-F40F-756E-7CD46467A3AF}"/>
              </a:ext>
            </a:extLst>
          </p:cNvPr>
          <p:cNvSpPr/>
          <p:nvPr/>
        </p:nvSpPr>
        <p:spPr>
          <a:xfrm>
            <a:off x="3009085" y="2361126"/>
            <a:ext cx="592200" cy="592200"/>
          </a:xfrm>
          <a:prstGeom prst="flowChartConnector">
            <a:avLst/>
          </a:prstGeom>
          <a:solidFill>
            <a:srgbClr val="00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131;p7">
            <a:extLst>
              <a:ext uri="{FF2B5EF4-FFF2-40B4-BE49-F238E27FC236}">
                <a16:creationId xmlns:a16="http://schemas.microsoft.com/office/drawing/2014/main" id="{798FE094-E510-0795-D4A5-A808EC25DCBE}"/>
              </a:ext>
            </a:extLst>
          </p:cNvPr>
          <p:cNvSpPr txBox="1"/>
          <p:nvPr/>
        </p:nvSpPr>
        <p:spPr>
          <a:xfrm>
            <a:off x="3075230" y="2427280"/>
            <a:ext cx="4599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922"/>
              </a:buClr>
              <a:buSzPts val="1400"/>
              <a:buFont typeface="Cambria"/>
              <a:buNone/>
            </a:pPr>
            <a:r>
              <a:rPr lang="en-US" sz="1800" b="1" i="0" u="none" strike="noStrike" cap="none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800" b="1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800" b="0" i="0" u="none" strike="noStrike" cap="none">
              <a:solidFill>
                <a:srgbClr val="0F2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132;p7">
            <a:extLst>
              <a:ext uri="{FF2B5EF4-FFF2-40B4-BE49-F238E27FC236}">
                <a16:creationId xmlns:a16="http://schemas.microsoft.com/office/drawing/2014/main" id="{B1810D71-477B-A558-287C-C5AD7A5A3D6D}"/>
              </a:ext>
            </a:extLst>
          </p:cNvPr>
          <p:cNvSpPr/>
          <p:nvPr/>
        </p:nvSpPr>
        <p:spPr>
          <a:xfrm>
            <a:off x="7246360" y="2427264"/>
            <a:ext cx="592200" cy="592200"/>
          </a:xfrm>
          <a:prstGeom prst="flowChartConnector">
            <a:avLst/>
          </a:prstGeom>
          <a:solidFill>
            <a:srgbClr val="00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133;p7">
            <a:extLst>
              <a:ext uri="{FF2B5EF4-FFF2-40B4-BE49-F238E27FC236}">
                <a16:creationId xmlns:a16="http://schemas.microsoft.com/office/drawing/2014/main" id="{E0449FB2-994A-52AC-A7DD-C98A85FAD795}"/>
              </a:ext>
            </a:extLst>
          </p:cNvPr>
          <p:cNvSpPr txBox="1"/>
          <p:nvPr/>
        </p:nvSpPr>
        <p:spPr>
          <a:xfrm>
            <a:off x="7312505" y="2535493"/>
            <a:ext cx="4599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922"/>
              </a:buClr>
              <a:buSzPts val="1400"/>
              <a:buFont typeface="Cambria"/>
              <a:buNone/>
            </a:pPr>
            <a:r>
              <a:rPr lang="en-US" sz="1800" b="1" i="0" u="none" strike="noStrike" cap="none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800" b="1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800" b="0" i="0" u="none" strike="noStrike" cap="none">
              <a:solidFill>
                <a:srgbClr val="0F2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134;p7">
            <a:extLst>
              <a:ext uri="{FF2B5EF4-FFF2-40B4-BE49-F238E27FC236}">
                <a16:creationId xmlns:a16="http://schemas.microsoft.com/office/drawing/2014/main" id="{F33F3825-C72F-7251-66FD-EC7711B908E0}"/>
              </a:ext>
            </a:extLst>
          </p:cNvPr>
          <p:cNvSpPr/>
          <p:nvPr/>
        </p:nvSpPr>
        <p:spPr>
          <a:xfrm>
            <a:off x="11417485" y="2361126"/>
            <a:ext cx="592200" cy="592200"/>
          </a:xfrm>
          <a:prstGeom prst="flowChartConnector">
            <a:avLst/>
          </a:prstGeom>
          <a:solidFill>
            <a:srgbClr val="00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135;p7">
            <a:extLst>
              <a:ext uri="{FF2B5EF4-FFF2-40B4-BE49-F238E27FC236}">
                <a16:creationId xmlns:a16="http://schemas.microsoft.com/office/drawing/2014/main" id="{2068CD0F-D6F5-AEBB-3622-89188977E4F8}"/>
              </a:ext>
            </a:extLst>
          </p:cNvPr>
          <p:cNvSpPr txBox="1"/>
          <p:nvPr/>
        </p:nvSpPr>
        <p:spPr>
          <a:xfrm>
            <a:off x="11499705" y="2427280"/>
            <a:ext cx="4599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922"/>
              </a:buClr>
              <a:buSzPts val="1400"/>
              <a:buFont typeface="Cambria"/>
              <a:buNone/>
            </a:pPr>
            <a:r>
              <a:rPr lang="en-US" sz="1800" b="1" i="0" u="none" strike="noStrike" cap="none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800" b="1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800" b="0" i="0" u="none" strike="noStrike" cap="none">
              <a:solidFill>
                <a:srgbClr val="0F2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136;p7">
            <a:extLst>
              <a:ext uri="{FF2B5EF4-FFF2-40B4-BE49-F238E27FC236}">
                <a16:creationId xmlns:a16="http://schemas.microsoft.com/office/drawing/2014/main" id="{60B3C2D4-09C5-BAA8-53E5-57515FD363E7}"/>
              </a:ext>
            </a:extLst>
          </p:cNvPr>
          <p:cNvSpPr/>
          <p:nvPr/>
        </p:nvSpPr>
        <p:spPr>
          <a:xfrm>
            <a:off x="10026035" y="4187839"/>
            <a:ext cx="592200" cy="592200"/>
          </a:xfrm>
          <a:prstGeom prst="flowChartConnector">
            <a:avLst/>
          </a:prstGeom>
          <a:solidFill>
            <a:srgbClr val="00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137;p7">
            <a:extLst>
              <a:ext uri="{FF2B5EF4-FFF2-40B4-BE49-F238E27FC236}">
                <a16:creationId xmlns:a16="http://schemas.microsoft.com/office/drawing/2014/main" id="{103CDA79-8042-8DEF-5096-F568E2CE7688}"/>
              </a:ext>
            </a:extLst>
          </p:cNvPr>
          <p:cNvSpPr txBox="1"/>
          <p:nvPr/>
        </p:nvSpPr>
        <p:spPr>
          <a:xfrm>
            <a:off x="10092180" y="4253993"/>
            <a:ext cx="4599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922"/>
              </a:buClr>
              <a:buSzPts val="1400"/>
              <a:buFont typeface="Cambria"/>
              <a:buNone/>
            </a:pPr>
            <a:r>
              <a:rPr lang="en-US" sz="1800" b="1" i="0" u="none" strike="noStrike" cap="none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800" b="1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800" b="0" i="0" u="none" strike="noStrike" cap="none">
              <a:solidFill>
                <a:srgbClr val="0F2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138;p7">
            <a:extLst>
              <a:ext uri="{FF2B5EF4-FFF2-40B4-BE49-F238E27FC236}">
                <a16:creationId xmlns:a16="http://schemas.microsoft.com/office/drawing/2014/main" id="{6EF655A2-4B51-7FFF-2E1D-F198A82E4A36}"/>
              </a:ext>
            </a:extLst>
          </p:cNvPr>
          <p:cNvSpPr/>
          <p:nvPr/>
        </p:nvSpPr>
        <p:spPr>
          <a:xfrm>
            <a:off x="4319585" y="4187851"/>
            <a:ext cx="592200" cy="592200"/>
          </a:xfrm>
          <a:prstGeom prst="flowChartConnector">
            <a:avLst/>
          </a:prstGeom>
          <a:solidFill>
            <a:srgbClr val="00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139;p7">
            <a:extLst>
              <a:ext uri="{FF2B5EF4-FFF2-40B4-BE49-F238E27FC236}">
                <a16:creationId xmlns:a16="http://schemas.microsoft.com/office/drawing/2014/main" id="{82673BDB-55A0-061C-D1D9-8D47A9546057}"/>
              </a:ext>
            </a:extLst>
          </p:cNvPr>
          <p:cNvSpPr txBox="1"/>
          <p:nvPr/>
        </p:nvSpPr>
        <p:spPr>
          <a:xfrm>
            <a:off x="4385730" y="4254005"/>
            <a:ext cx="4599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922"/>
              </a:buClr>
              <a:buSzPts val="1400"/>
              <a:buFont typeface="Cambria"/>
              <a:buNone/>
            </a:pPr>
            <a:r>
              <a:rPr lang="en-US" sz="1800" b="1" i="0" u="none" strike="noStrike" cap="none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800" b="1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800" b="0" i="0" u="none" strike="noStrike" cap="none">
              <a:solidFill>
                <a:srgbClr val="0F2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140;p7">
            <a:extLst>
              <a:ext uri="{FF2B5EF4-FFF2-40B4-BE49-F238E27FC236}">
                <a16:creationId xmlns:a16="http://schemas.microsoft.com/office/drawing/2014/main" id="{736490BC-47C4-7D45-B009-201FB1C3DBFC}"/>
              </a:ext>
            </a:extLst>
          </p:cNvPr>
          <p:cNvSpPr/>
          <p:nvPr/>
        </p:nvSpPr>
        <p:spPr>
          <a:xfrm>
            <a:off x="3075235" y="6014576"/>
            <a:ext cx="592200" cy="592200"/>
          </a:xfrm>
          <a:prstGeom prst="flowChartConnector">
            <a:avLst/>
          </a:prstGeom>
          <a:solidFill>
            <a:srgbClr val="00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141;p7">
            <a:extLst>
              <a:ext uri="{FF2B5EF4-FFF2-40B4-BE49-F238E27FC236}">
                <a16:creationId xmlns:a16="http://schemas.microsoft.com/office/drawing/2014/main" id="{34466E9B-6C79-D8D8-7026-B19BB14E1B9F}"/>
              </a:ext>
            </a:extLst>
          </p:cNvPr>
          <p:cNvSpPr txBox="1"/>
          <p:nvPr/>
        </p:nvSpPr>
        <p:spPr>
          <a:xfrm>
            <a:off x="3141380" y="6080730"/>
            <a:ext cx="4599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922"/>
              </a:buClr>
              <a:buSzPts val="1400"/>
              <a:buFont typeface="Cambria"/>
              <a:buNone/>
            </a:pPr>
            <a:r>
              <a:rPr lang="en-US" sz="1800" b="1" i="0" u="none" strike="noStrike" cap="none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800" b="1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1800" b="0" i="0" u="none" strike="noStrike" cap="none">
              <a:solidFill>
                <a:srgbClr val="0F2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42;p7">
            <a:extLst>
              <a:ext uri="{FF2B5EF4-FFF2-40B4-BE49-F238E27FC236}">
                <a16:creationId xmlns:a16="http://schemas.microsoft.com/office/drawing/2014/main" id="{B37881A9-9371-6916-A08B-938819DF4148}"/>
              </a:ext>
            </a:extLst>
          </p:cNvPr>
          <p:cNvSpPr/>
          <p:nvPr/>
        </p:nvSpPr>
        <p:spPr>
          <a:xfrm>
            <a:off x="7246360" y="6014576"/>
            <a:ext cx="592200" cy="592200"/>
          </a:xfrm>
          <a:prstGeom prst="flowChartConnector">
            <a:avLst/>
          </a:prstGeom>
          <a:solidFill>
            <a:srgbClr val="00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43;p7">
            <a:extLst>
              <a:ext uri="{FF2B5EF4-FFF2-40B4-BE49-F238E27FC236}">
                <a16:creationId xmlns:a16="http://schemas.microsoft.com/office/drawing/2014/main" id="{83A11329-076D-69C6-746D-FC62963507A4}"/>
              </a:ext>
            </a:extLst>
          </p:cNvPr>
          <p:cNvSpPr txBox="1"/>
          <p:nvPr/>
        </p:nvSpPr>
        <p:spPr>
          <a:xfrm>
            <a:off x="7312505" y="6080730"/>
            <a:ext cx="4599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922"/>
              </a:buClr>
              <a:buSzPts val="1400"/>
              <a:buFont typeface="Cambria"/>
              <a:buNone/>
            </a:pPr>
            <a:r>
              <a:rPr lang="en-US" sz="1800" b="1" i="0" u="none" strike="noStrike" cap="none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800" b="1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sz="1800" b="0" i="0" u="none" strike="noStrike" cap="none">
              <a:solidFill>
                <a:srgbClr val="0F2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44;p7">
            <a:extLst>
              <a:ext uri="{FF2B5EF4-FFF2-40B4-BE49-F238E27FC236}">
                <a16:creationId xmlns:a16="http://schemas.microsoft.com/office/drawing/2014/main" id="{E844932C-401C-045D-1501-01BD71A1373A}"/>
              </a:ext>
            </a:extLst>
          </p:cNvPr>
          <p:cNvSpPr/>
          <p:nvPr/>
        </p:nvSpPr>
        <p:spPr>
          <a:xfrm>
            <a:off x="11417485" y="6014576"/>
            <a:ext cx="592200" cy="592200"/>
          </a:xfrm>
          <a:prstGeom prst="flowChartConnector">
            <a:avLst/>
          </a:prstGeom>
          <a:solidFill>
            <a:srgbClr val="00D9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45;p7">
            <a:extLst>
              <a:ext uri="{FF2B5EF4-FFF2-40B4-BE49-F238E27FC236}">
                <a16:creationId xmlns:a16="http://schemas.microsoft.com/office/drawing/2014/main" id="{EC223F84-EAF7-9CD9-967E-11CD02BBC884}"/>
              </a:ext>
            </a:extLst>
          </p:cNvPr>
          <p:cNvSpPr txBox="1"/>
          <p:nvPr/>
        </p:nvSpPr>
        <p:spPr>
          <a:xfrm>
            <a:off x="11483635" y="6085056"/>
            <a:ext cx="4599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922"/>
              </a:buClr>
              <a:buSzPts val="1400"/>
              <a:buFont typeface="Cambria"/>
              <a:buNone/>
            </a:pPr>
            <a:r>
              <a:rPr lang="en-US" sz="1800" b="1" i="0" u="none" strike="noStrike" cap="none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lang="en-US" sz="1800" b="1">
                <a:solidFill>
                  <a:srgbClr val="0F1922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1800" b="0" i="0" u="none" strike="noStrike" cap="none">
              <a:solidFill>
                <a:srgbClr val="0F29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46;p7">
            <a:extLst>
              <a:ext uri="{FF2B5EF4-FFF2-40B4-BE49-F238E27FC236}">
                <a16:creationId xmlns:a16="http://schemas.microsoft.com/office/drawing/2014/main" id="{27FC3CA9-2B53-6BBA-E035-8694CA15141C}"/>
              </a:ext>
            </a:extLst>
          </p:cNvPr>
          <p:cNvSpPr/>
          <p:nvPr/>
        </p:nvSpPr>
        <p:spPr>
          <a:xfrm>
            <a:off x="9499963" y="2754126"/>
            <a:ext cx="592200" cy="592200"/>
          </a:xfrm>
          <a:prstGeom prst="downArrow">
            <a:avLst>
              <a:gd name="adj1" fmla="val 60000"/>
              <a:gd name="adj2" fmla="val 60000"/>
            </a:avLst>
          </a:prstGeom>
          <a:solidFill>
            <a:srgbClr val="00D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47;p7">
            <a:extLst>
              <a:ext uri="{FF2B5EF4-FFF2-40B4-BE49-F238E27FC236}">
                <a16:creationId xmlns:a16="http://schemas.microsoft.com/office/drawing/2014/main" id="{1228586C-7CEB-D697-3CF6-1AA1B8B5DE90}"/>
              </a:ext>
            </a:extLst>
          </p:cNvPr>
          <p:cNvSpPr/>
          <p:nvPr/>
        </p:nvSpPr>
        <p:spPr>
          <a:xfrm>
            <a:off x="2093313" y="4580851"/>
            <a:ext cx="592200" cy="592200"/>
          </a:xfrm>
          <a:prstGeom prst="downArrow">
            <a:avLst>
              <a:gd name="adj1" fmla="val 60000"/>
              <a:gd name="adj2" fmla="val 60000"/>
            </a:avLst>
          </a:prstGeom>
          <a:solidFill>
            <a:srgbClr val="00D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48;p7">
            <a:extLst>
              <a:ext uri="{FF2B5EF4-FFF2-40B4-BE49-F238E27FC236}">
                <a16:creationId xmlns:a16="http://schemas.microsoft.com/office/drawing/2014/main" id="{D1B93896-206F-324E-4F4A-151B30556C29}"/>
              </a:ext>
            </a:extLst>
          </p:cNvPr>
          <p:cNvSpPr/>
          <p:nvPr/>
        </p:nvSpPr>
        <p:spPr>
          <a:xfrm rot="16200000">
            <a:off x="3666138" y="1840763"/>
            <a:ext cx="592200" cy="592200"/>
          </a:xfrm>
          <a:prstGeom prst="downArrow">
            <a:avLst>
              <a:gd name="adj1" fmla="val 60000"/>
              <a:gd name="adj2" fmla="val 60000"/>
            </a:avLst>
          </a:prstGeom>
          <a:solidFill>
            <a:srgbClr val="00D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49;p7">
            <a:extLst>
              <a:ext uri="{FF2B5EF4-FFF2-40B4-BE49-F238E27FC236}">
                <a16:creationId xmlns:a16="http://schemas.microsoft.com/office/drawing/2014/main" id="{396F41C1-8A04-1C44-01A6-9F760B495624}"/>
              </a:ext>
            </a:extLst>
          </p:cNvPr>
          <p:cNvSpPr/>
          <p:nvPr/>
        </p:nvSpPr>
        <p:spPr>
          <a:xfrm rot="16200000">
            <a:off x="7949388" y="1840763"/>
            <a:ext cx="592200" cy="592200"/>
          </a:xfrm>
          <a:prstGeom prst="downArrow">
            <a:avLst>
              <a:gd name="adj1" fmla="val 60000"/>
              <a:gd name="adj2" fmla="val 60000"/>
            </a:avLst>
          </a:prstGeom>
          <a:solidFill>
            <a:srgbClr val="00D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50;p7">
            <a:extLst>
              <a:ext uri="{FF2B5EF4-FFF2-40B4-BE49-F238E27FC236}">
                <a16:creationId xmlns:a16="http://schemas.microsoft.com/office/drawing/2014/main" id="{FBD7D7A6-BB09-76BA-593F-B6D8E3478BB1}"/>
              </a:ext>
            </a:extLst>
          </p:cNvPr>
          <p:cNvSpPr/>
          <p:nvPr/>
        </p:nvSpPr>
        <p:spPr>
          <a:xfrm rot="16200000">
            <a:off x="3729826" y="5494213"/>
            <a:ext cx="592200" cy="592200"/>
          </a:xfrm>
          <a:prstGeom prst="downArrow">
            <a:avLst>
              <a:gd name="adj1" fmla="val 60000"/>
              <a:gd name="adj2" fmla="val 60000"/>
            </a:avLst>
          </a:prstGeom>
          <a:solidFill>
            <a:srgbClr val="00D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51;p7">
            <a:extLst>
              <a:ext uri="{FF2B5EF4-FFF2-40B4-BE49-F238E27FC236}">
                <a16:creationId xmlns:a16="http://schemas.microsoft.com/office/drawing/2014/main" id="{F291A80E-6A78-518A-5891-0C18D82A18FA}"/>
              </a:ext>
            </a:extLst>
          </p:cNvPr>
          <p:cNvSpPr/>
          <p:nvPr/>
        </p:nvSpPr>
        <p:spPr>
          <a:xfrm rot="16200000">
            <a:off x="7949388" y="5494213"/>
            <a:ext cx="592200" cy="592200"/>
          </a:xfrm>
          <a:prstGeom prst="downArrow">
            <a:avLst>
              <a:gd name="adj1" fmla="val 60000"/>
              <a:gd name="adj2" fmla="val 60000"/>
            </a:avLst>
          </a:prstGeom>
          <a:solidFill>
            <a:srgbClr val="00D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52;p7">
            <a:extLst>
              <a:ext uri="{FF2B5EF4-FFF2-40B4-BE49-F238E27FC236}">
                <a16:creationId xmlns:a16="http://schemas.microsoft.com/office/drawing/2014/main" id="{92F126B7-739B-6351-BCC1-BDAD7EDB53A5}"/>
              </a:ext>
            </a:extLst>
          </p:cNvPr>
          <p:cNvSpPr/>
          <p:nvPr/>
        </p:nvSpPr>
        <p:spPr>
          <a:xfrm rot="5400000">
            <a:off x="5625638" y="3667488"/>
            <a:ext cx="592200" cy="592200"/>
          </a:xfrm>
          <a:prstGeom prst="downArrow">
            <a:avLst>
              <a:gd name="adj1" fmla="val 60000"/>
              <a:gd name="adj2" fmla="val 60000"/>
            </a:avLst>
          </a:prstGeom>
          <a:solidFill>
            <a:srgbClr val="00D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6866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Resolutions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68735" y="438912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600200"/>
            <a:ext cx="5394960" cy="448056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99522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Issues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283464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required cleaning, standardization, and validation before analysis.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3685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Suitable Visualizations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400507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cybersecurity attributes required different visualizations to present the information clearly.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48554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Formatting &amp; Integration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" y="517550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consistency, readability, and interactivity across seven dashboards was challenging.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63640" y="1600200"/>
            <a:ext cx="5422392" cy="448056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83680" y="1874520"/>
            <a:ext cx="502920" cy="50292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1995221"/>
            <a:ext cx="261518" cy="26151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6948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58368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583680" y="28346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Power Query to clean, transform, standardize, and validate the dataset.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583680" y="36850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Appropriate Visual Selection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583680" y="400507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charts and visuals based on the type of data and the insights required.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583680" y="48554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Review &amp; Optimization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583680" y="5175504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layouts, formatting, filters, and visual elements and reviewed the dashboards before final submission.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 •  TEAM B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 &amp; Key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68735" y="438912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440680" cy="105156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034540"/>
            <a:ext cx="457200" cy="457200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14426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173736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cybersecurity threat data.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737360"/>
            <a:ext cx="5440680" cy="105156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64808" y="2034540"/>
            <a:ext cx="457200" cy="457200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214426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68312" y="173736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machine learning for threat prediction and anomaly detection.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2953512"/>
            <a:ext cx="5440680" cy="105156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250692"/>
            <a:ext cx="457200" cy="457200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36042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53312" y="2953512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alerts for high-risk cybersecurity incidents.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63640" y="2953512"/>
            <a:ext cx="5440680" cy="105156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64808" y="3250692"/>
            <a:ext cx="457200" cy="457200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33604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68312" y="2953512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advanced forecasting and AI-based risk analysis.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892040"/>
            <a:ext cx="11091672" cy="137160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23" name="Shape 17"/>
          <p:cNvSpPr/>
          <p:nvPr/>
        </p:nvSpPr>
        <p:spPr>
          <a:xfrm>
            <a:off x="777240" y="5074920"/>
            <a:ext cx="457200" cy="45720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518464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7160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1371600" y="5367528"/>
            <a:ext cx="9875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incidents show different patterns across attack types, countries, industries, and years.</a:t>
            </a:r>
            <a:endParaRPr lang="en-US" sz="1150" dirty="0"/>
          </a:p>
          <a:p>
            <a:pPr marL="203200" indent="-203200">
              <a:lnSpc>
                <a:spcPct val="115000"/>
              </a:lnSpc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vulnerabilities and high-risk incidents can result in significant financial and operational impact.</a:t>
            </a:r>
            <a:endParaRPr lang="en-US" sz="1150" dirty="0"/>
          </a:p>
          <a:p>
            <a:pPr marL="203200" indent="-203200">
              <a:lnSpc>
                <a:spcPct val="115000"/>
              </a:lnSpc>
              <a:spcAft>
                <a:spcPts val="500"/>
              </a:spcAft>
              <a:buSzPct val="100000"/>
              <a:buChar char="●"/>
            </a:pPr>
            <a:r>
              <a:rPr lang="en-US" sz="115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mechanisms play an important role in managing cybersecurity threats and reducing their impact.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 •  TEAM B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68735" y="438912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11091672" cy="105156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8000"/>
              </a:lnSpc>
            </a:pPr>
            <a:r>
              <a:rPr lang="en-US" sz="135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Cyber Threat Analytics Platform with Incident Visualization System</a:t>
            </a: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Group 1 successfully transformed the Global Cybersecurity Threats (2015–2024) dataset into interactive Power BI dashboards for analyzing cybersecurity incidents and generating meaningful insights.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5394960" cy="315468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182112"/>
            <a:ext cx="502920" cy="50292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3302813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31821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&amp; Data Visualization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&amp; Data Cleaning</a:t>
            </a:r>
            <a:endParaRPr lang="en-US" sz="1300" dirty="0"/>
          </a:p>
          <a:p>
            <a:pPr marL="203200" indent="-2032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30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KPI Development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2926080"/>
            <a:ext cx="5422392" cy="315468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3182112"/>
            <a:ext cx="502920" cy="50292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3302813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318211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Skills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83680" y="384048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 •  TEAM B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 &amp; 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368735" y="438912"/>
            <a:ext cx="128016" cy="128016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6766560" cy="438912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38528"/>
            <a:ext cx="502920" cy="50292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059229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385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822960" y="2606040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521" y="2702601"/>
            <a:ext cx="209215" cy="2092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587752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Infosys Springboard Virtual Internship 7.0 Team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3319272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521" y="3415833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30098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Mentor — Mrs. Nithyasri S J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2960" y="4032504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521" y="4129065"/>
            <a:ext cx="209215" cy="209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01421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371600" y="430682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Janani G K, Nandana N Nair, Himanshu Kumar Soni, Narayani Kantamreddy, Gohitha Meghana N, Bindu Kotnala.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822960" y="4965192"/>
            <a:ext cx="402336" cy="402336"/>
          </a:xfrm>
          <a:prstGeom prst="ellipse">
            <a:avLst/>
          </a:prstGeom>
          <a:solidFill>
            <a:srgbClr val="00D9FF"/>
          </a:solidFill>
          <a:ln/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521" y="5061753"/>
            <a:ext cx="209215" cy="2092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4946904"/>
            <a:ext cx="57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 and Academic Support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7479792" y="1691640"/>
            <a:ext cx="4160520" cy="4389120"/>
          </a:xfrm>
          <a:prstGeom prst="rect">
            <a:avLst/>
          </a:prstGeom>
          <a:solidFill>
            <a:srgbClr val="0F1922"/>
          </a:solidFill>
          <a:ln/>
          <a:effectLst>
            <a:outerShdw blurRad="177800" dist="50800" dir="5400000" algn="bl" rotWithShape="0">
              <a:srgbClr val="0F2942">
                <a:alpha val="5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754112" y="1938528"/>
            <a:ext cx="457200" cy="457200"/>
          </a:xfrm>
          <a:prstGeom prst="ellipse">
            <a:avLst/>
          </a:prstGeom>
          <a:solidFill>
            <a:srgbClr val="222222"/>
          </a:solidFill>
          <a:ln w="15875">
            <a:solidFill>
              <a:srgbClr val="00D9FF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2048256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348472" y="19385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1550" dirty="0"/>
          </a:p>
        </p:txBody>
      </p:sp>
      <p:sp>
        <p:nvSpPr>
          <p:cNvPr id="26" name="Text 18"/>
          <p:cNvSpPr/>
          <p:nvPr/>
        </p:nvSpPr>
        <p:spPr>
          <a:xfrm>
            <a:off x="7754112" y="2560320"/>
            <a:ext cx="3611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Cybersecurity Threats (2015–2024) Dataset — Kaggle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Documentation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Query &amp; DAX Documentation</a:t>
            </a:r>
            <a:endParaRPr lang="en-US" sz="1100" dirty="0"/>
          </a:p>
          <a:p>
            <a:pPr marL="203200" indent="-203200">
              <a:lnSpc>
                <a:spcPct val="125000"/>
              </a:lnSpc>
              <a:spcAft>
                <a:spcPts val="1400"/>
              </a:spcAft>
              <a:buSzPct val="100000"/>
              <a:buChar char="●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 Training Materials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 •  TEAM B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F6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ln w="12700">
            <a:solidFill>
              <a:srgbClr val="0F6B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47208" y="1920240"/>
            <a:ext cx="1097280" cy="1097280"/>
          </a:xfrm>
          <a:prstGeom prst="ellipse">
            <a:avLst/>
          </a:prstGeom>
          <a:solidFill>
            <a:srgbClr val="222222"/>
          </a:solidFill>
          <a:ln w="25400">
            <a:solidFill>
              <a:srgbClr val="00D9FF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240" y="2176272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88036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5272888" y="3749040"/>
            <a:ext cx="1645920" cy="0"/>
          </a:xfrm>
          <a:prstGeom prst="line">
            <a:avLst/>
          </a:prstGeom>
          <a:noFill/>
          <a:ln w="15875">
            <a:solidFill>
              <a:srgbClr val="00D9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71600" y="3931920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FC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and Security Visualization Framework – Group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48056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8463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150" dirty="0">
                <a:solidFill>
                  <a:srgbClr val="FF8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861</Words>
  <Application>Microsoft Office PowerPoint</Application>
  <PresentationFormat>Widescreen</PresentationFormat>
  <Paragraphs>140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Threat Incident Analytics and Security Visualization Framework</dc:title>
  <dc:subject>PptxGenJS Presentation</dc:subject>
  <dc:creator>Team B</dc:creator>
  <cp:lastModifiedBy>Jan kannan</cp:lastModifiedBy>
  <cp:revision>15</cp:revision>
  <dcterms:created xsi:type="dcterms:W3CDTF">2026-08-16T14:56:43Z</dcterms:created>
  <dcterms:modified xsi:type="dcterms:W3CDTF">2026-08-20T04:17:23Z</dcterms:modified>
</cp:coreProperties>
</file>