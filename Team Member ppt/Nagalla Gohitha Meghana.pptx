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098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3A380-C008-D12D-40FA-97E45B1B4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CCFF3-7884-23EC-92DB-53C1595AB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17EC8-E524-0E60-935C-E63EB3E2F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AED8C-9DA4-4AD8-DFBA-9093DACA6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77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0F774-C6F7-7E43-394E-553CEFA65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C2B45-F7D3-86D2-799F-17F30D79A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7BB38-04F5-4C10-6E83-C88176FDA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18B78-281E-1FFD-738B-357E6CE12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49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-320040" y="50749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10332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Threat Analytics Platform with Incident Visualization System 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3429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47365" y="3657600"/>
            <a:ext cx="7189694" cy="2331720"/>
          </a:xfrm>
          <a:prstGeom prst="roundRect">
            <a:avLst>
              <a:gd name="adj" fmla="val 4706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3801035"/>
            <a:ext cx="5760720" cy="824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Nagalla Gohitha Meghana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0" y="4609652"/>
            <a:ext cx="5760720" cy="625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00400" y="5349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Mrs. Nithyasri S J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647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 Threat Visibility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3,000+ global cyber-attack records into one interactive Power BI platform for real-time monitoring.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783080"/>
            <a:ext cx="502920" cy="50292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17647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Risk-Based Decisions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incident by Low / Medium / High risk to help security teams prioritize response and resources.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2336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Multi-Dimensional Impact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attacks across country, industry, vulnerability type, attack source, and financial loss simultaneously.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251960"/>
            <a:ext cx="502920" cy="50292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42336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Predictive Insight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8920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yearly loss trends, forecasts, and recurring patterns so threats can be anticipated, not just reported.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60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interactive, multi-page Power BI dashboard that turns raw global cyber-attack records into actionable security intelligence — covering executive KPIs, threat patterns, geography, industry exposure, vulnerabilities, and severity forecasting.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584448" cy="1874520"/>
          </a:xfrm>
          <a:prstGeom prst="roundRect">
            <a:avLst>
              <a:gd name="adj" fmla="val 341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438912" cy="438912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Top-line KPIs — financial loss, affected users, resolution time, risk mix.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88536" y="1965960"/>
            <a:ext cx="3584448" cy="1874520"/>
          </a:xfrm>
          <a:prstGeom prst="roundRect">
            <a:avLst>
              <a:gd name="adj" fmla="val 341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7136" y="2194560"/>
            <a:ext cx="438912" cy="438912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7136" y="274320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17136" y="310896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trend by year, attack source distribution, industry breakdown.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74152" y="1965960"/>
            <a:ext cx="3584448" cy="1874520"/>
          </a:xfrm>
          <a:prstGeom prst="roundRect">
            <a:avLst>
              <a:gd name="adj" fmla="val 341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194560"/>
            <a:ext cx="438912" cy="438912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274320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Deep Dive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02752" y="310896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share, rank trend, and affected-user distribution by country.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069080"/>
            <a:ext cx="3584448" cy="1874520"/>
          </a:xfrm>
          <a:prstGeom prst="roundRect">
            <a:avLst>
              <a:gd name="adj" fmla="val 341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297680"/>
            <a:ext cx="438912" cy="438912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8463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Risk Profile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21208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loss, resolution time, and attack type by target industry.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88536" y="4069080"/>
            <a:ext cx="3584448" cy="1874520"/>
          </a:xfrm>
          <a:prstGeom prst="roundRect">
            <a:avLst>
              <a:gd name="adj" fmla="val 341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7136" y="4297680"/>
            <a:ext cx="438912" cy="438912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7136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17136" y="48463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&amp; Defense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17136" y="521208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types, defense-mechanism effectiveness, and loss impact.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74152" y="4069080"/>
            <a:ext cx="3584448" cy="1874520"/>
          </a:xfrm>
          <a:prstGeom prst="roundRect">
            <a:avLst>
              <a:gd name="adj" fmla="val 341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02752" y="4297680"/>
            <a:ext cx="438912" cy="438912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02752" y="48463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&amp; Pattern Radar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02752" y="521208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incidents, loss ratios, yearly forecast, and risk funnel.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Visualizations 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440680" cy="932688"/>
          </a:xfrm>
          <a:prstGeom prst="roundRect">
            <a:avLst>
              <a:gd name="adj" fmla="val 5882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43584"/>
            <a:ext cx="548640" cy="54864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43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Donut Chart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Distribution — share of Low / Medium / High risk attacks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12264"/>
            <a:ext cx="5440680" cy="932688"/>
          </a:xfrm>
          <a:prstGeom prst="roundRect">
            <a:avLst>
              <a:gd name="adj" fmla="val 5882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304288"/>
            <a:ext cx="548640" cy="54864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037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Horizontal Bar Chart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5237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 by Volume — DDoS, Phishing, SQL Injection &amp; more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172968"/>
            <a:ext cx="5440680" cy="932688"/>
          </a:xfrm>
          <a:prstGeom prst="roundRect">
            <a:avLst>
              <a:gd name="adj" fmla="val 5882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364992"/>
            <a:ext cx="548640" cy="54864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264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/ Line Chart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5844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Loss Trend with Forecast — historical trend plus projection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233672"/>
            <a:ext cx="5440680" cy="932688"/>
          </a:xfrm>
          <a:prstGeom prst="roundRect">
            <a:avLst>
              <a:gd name="adj" fmla="val 5882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425696"/>
            <a:ext cx="548640" cy="54864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25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3251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6451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Financial Loss, Affected Users, Avg Resolution Time at a glance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1051560"/>
            <a:ext cx="5440680" cy="932688"/>
          </a:xfrm>
          <a:prstGeom prst="roundRect">
            <a:avLst>
              <a:gd name="adj" fmla="val 5882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1243584"/>
            <a:ext cx="548640" cy="54864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243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86600" y="1143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Table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1463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 vs Risk Level — cross-tab of category against severity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2112264"/>
            <a:ext cx="5440680" cy="932688"/>
          </a:xfrm>
          <a:prstGeom prst="roundRect">
            <a:avLst>
              <a:gd name="adj" fmla="val 5882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304288"/>
            <a:ext cx="548640" cy="54864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▽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86600" y="22037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 Chart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86600" y="25237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Funnel by Country — proportion narrowing by severity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3172968"/>
            <a:ext cx="5440680" cy="932688"/>
          </a:xfrm>
          <a:prstGeom prst="roundRect">
            <a:avLst>
              <a:gd name="adj" fmla="val 5882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▥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086600" y="3264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Multiples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86600" y="35844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Country-wise Loss Trend — 10 countries compared side by side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CC29F-E8BA-0E13-20E3-699128D2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36">
            <a:extLst>
              <a:ext uri="{FF2B5EF4-FFF2-40B4-BE49-F238E27FC236}">
                <a16:creationId xmlns:a16="http://schemas.microsoft.com/office/drawing/2014/main" id="{2A92441E-B83B-668D-B720-8BF97246B429}"/>
              </a:ext>
            </a:extLst>
          </p:cNvPr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E37E13F-8939-7F0F-B158-5B563DD09019}"/>
              </a:ext>
            </a:extLst>
          </p:cNvPr>
          <p:cNvSpPr/>
          <p:nvPr/>
        </p:nvSpPr>
        <p:spPr>
          <a:xfrm>
            <a:off x="1133856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0">
            <a:extLst>
              <a:ext uri="{FF2B5EF4-FFF2-40B4-BE49-F238E27FC236}">
                <a16:creationId xmlns:a16="http://schemas.microsoft.com/office/drawing/2014/main" id="{5F86666A-F6C2-FE63-EAF3-141343017B3F}"/>
              </a:ext>
            </a:extLst>
          </p:cNvPr>
          <p:cNvSpPr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BB4DE000-8B06-B5BC-115B-6FC87558771E}"/>
              </a:ext>
            </a:extLst>
          </p:cNvPr>
          <p:cNvSpPr/>
          <p:nvPr/>
        </p:nvSpPr>
        <p:spPr>
          <a:xfrm>
            <a:off x="502920" y="9326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understanding to a published Power BI report</a:t>
            </a:r>
            <a:endParaRPr lang="en-US" sz="1300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98E730B6-B220-6468-C3BE-55F5E9866253}"/>
              </a:ext>
            </a:extLst>
          </p:cNvPr>
          <p:cNvSpPr/>
          <p:nvPr/>
        </p:nvSpPr>
        <p:spPr>
          <a:xfrm>
            <a:off x="50292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8724D5FF-E087-B286-9BE4-3A72DF094CA5}"/>
              </a:ext>
            </a:extLst>
          </p:cNvPr>
          <p:cNvSpPr/>
          <p:nvPr/>
        </p:nvSpPr>
        <p:spPr>
          <a:xfrm>
            <a:off x="1577340" y="1371600"/>
            <a:ext cx="457200" cy="45720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11DEB95-9464-ECC0-36C8-25C95728BA16}"/>
              </a:ext>
            </a:extLst>
          </p:cNvPr>
          <p:cNvSpPr/>
          <p:nvPr/>
        </p:nvSpPr>
        <p:spPr>
          <a:xfrm>
            <a:off x="15773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66E245CC-9920-98CB-E45E-A8AF77B2C318}"/>
              </a:ext>
            </a:extLst>
          </p:cNvPr>
          <p:cNvSpPr/>
          <p:nvPr/>
        </p:nvSpPr>
        <p:spPr>
          <a:xfrm>
            <a:off x="612648" y="1600200"/>
            <a:ext cx="2386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Understanding</a:t>
            </a:r>
            <a:endParaRPr lang="en-US" sz="1250" dirty="0"/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E24CCB1D-D89C-B4A2-4D17-CDCF335CF583}"/>
              </a:ext>
            </a:extLst>
          </p:cNvPr>
          <p:cNvSpPr/>
          <p:nvPr/>
        </p:nvSpPr>
        <p:spPr>
          <a:xfrm>
            <a:off x="3108960" y="221742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6BFED02E-A7A1-4D18-9B62-3707C77E23CE}"/>
              </a:ext>
            </a:extLst>
          </p:cNvPr>
          <p:cNvSpPr/>
          <p:nvPr/>
        </p:nvSpPr>
        <p:spPr>
          <a:xfrm>
            <a:off x="333756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E8AC6740-1EBC-0820-84FD-2A83D0FD0728}"/>
              </a:ext>
            </a:extLst>
          </p:cNvPr>
          <p:cNvSpPr/>
          <p:nvPr/>
        </p:nvSpPr>
        <p:spPr>
          <a:xfrm>
            <a:off x="4411980" y="1371600"/>
            <a:ext cx="457200" cy="45720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57A3C619-EEBC-B690-6ABC-88D8B8F18A7D}"/>
              </a:ext>
            </a:extLst>
          </p:cNvPr>
          <p:cNvSpPr/>
          <p:nvPr/>
        </p:nvSpPr>
        <p:spPr>
          <a:xfrm>
            <a:off x="44119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DD35AAE0-7B28-D5C4-2FDF-6F50CBA6D7E5}"/>
              </a:ext>
            </a:extLst>
          </p:cNvPr>
          <p:cNvSpPr/>
          <p:nvPr/>
        </p:nvSpPr>
        <p:spPr>
          <a:xfrm>
            <a:off x="3447288" y="189280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2103D41D-7EA3-58BD-D769-A446892E67EE}"/>
              </a:ext>
            </a:extLst>
          </p:cNvPr>
          <p:cNvSpPr/>
          <p:nvPr/>
        </p:nvSpPr>
        <p:spPr>
          <a:xfrm>
            <a:off x="3447288" y="2313432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950" dirty="0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DDED99B2-B925-41C2-8065-00C3BE369CF9}"/>
              </a:ext>
            </a:extLst>
          </p:cNvPr>
          <p:cNvSpPr/>
          <p:nvPr/>
        </p:nvSpPr>
        <p:spPr>
          <a:xfrm>
            <a:off x="5943600" y="221742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53" name="Shape 13">
            <a:extLst>
              <a:ext uri="{FF2B5EF4-FFF2-40B4-BE49-F238E27FC236}">
                <a16:creationId xmlns:a16="http://schemas.microsoft.com/office/drawing/2014/main" id="{75B9C7C1-D5DF-CB95-783B-A945802ACB64}"/>
              </a:ext>
            </a:extLst>
          </p:cNvPr>
          <p:cNvSpPr/>
          <p:nvPr/>
        </p:nvSpPr>
        <p:spPr>
          <a:xfrm>
            <a:off x="617220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92C9F9A2-1CEB-AC1C-4218-A903D12E1F43}"/>
              </a:ext>
            </a:extLst>
          </p:cNvPr>
          <p:cNvSpPr/>
          <p:nvPr/>
        </p:nvSpPr>
        <p:spPr>
          <a:xfrm>
            <a:off x="7246620" y="1371600"/>
            <a:ext cx="457200" cy="45720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5892D81E-B3B1-5D68-8FC6-B6E13428FE17}"/>
              </a:ext>
            </a:extLst>
          </p:cNvPr>
          <p:cNvSpPr/>
          <p:nvPr/>
        </p:nvSpPr>
        <p:spPr>
          <a:xfrm>
            <a:off x="72466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95224B22-27CB-8B84-B2E8-D684D8E7448F}"/>
              </a:ext>
            </a:extLst>
          </p:cNvPr>
          <p:cNvSpPr/>
          <p:nvPr/>
        </p:nvSpPr>
        <p:spPr>
          <a:xfrm>
            <a:off x="6281928" y="1600200"/>
            <a:ext cx="2386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250" dirty="0"/>
          </a:p>
        </p:txBody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93D14870-43C0-8468-60C4-493A00B96C00}"/>
              </a:ext>
            </a:extLst>
          </p:cNvPr>
          <p:cNvSpPr/>
          <p:nvPr/>
        </p:nvSpPr>
        <p:spPr>
          <a:xfrm>
            <a:off x="8778240" y="221742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58" name="Shape 18">
            <a:extLst>
              <a:ext uri="{FF2B5EF4-FFF2-40B4-BE49-F238E27FC236}">
                <a16:creationId xmlns:a16="http://schemas.microsoft.com/office/drawing/2014/main" id="{3B310FF6-F6ED-E65D-7110-047502DBFFA8}"/>
              </a:ext>
            </a:extLst>
          </p:cNvPr>
          <p:cNvSpPr/>
          <p:nvPr/>
        </p:nvSpPr>
        <p:spPr>
          <a:xfrm>
            <a:off x="900684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59" name="Shape 19">
            <a:extLst>
              <a:ext uri="{FF2B5EF4-FFF2-40B4-BE49-F238E27FC236}">
                <a16:creationId xmlns:a16="http://schemas.microsoft.com/office/drawing/2014/main" id="{2196FCE8-80F3-FCDA-00F5-808C14792C52}"/>
              </a:ext>
            </a:extLst>
          </p:cNvPr>
          <p:cNvSpPr/>
          <p:nvPr/>
        </p:nvSpPr>
        <p:spPr>
          <a:xfrm>
            <a:off x="10081260" y="1371600"/>
            <a:ext cx="457200" cy="45720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89B1ADE7-00C9-6ADD-7AE5-FB145615650F}"/>
              </a:ext>
            </a:extLst>
          </p:cNvPr>
          <p:cNvSpPr/>
          <p:nvPr/>
        </p:nvSpPr>
        <p:spPr>
          <a:xfrm>
            <a:off x="100812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8FBAA05B-182E-3893-833A-CE12E7B6CD39}"/>
              </a:ext>
            </a:extLst>
          </p:cNvPr>
          <p:cNvSpPr/>
          <p:nvPr/>
        </p:nvSpPr>
        <p:spPr>
          <a:xfrm>
            <a:off x="9116568" y="189280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Connection</a:t>
            </a:r>
            <a:endParaRPr lang="en-US" sz="1250" dirty="0"/>
          </a:p>
        </p:txBody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CAA17880-21EA-2A7F-FEA5-2061B65E05AB}"/>
              </a:ext>
            </a:extLst>
          </p:cNvPr>
          <p:cNvSpPr/>
          <p:nvPr/>
        </p:nvSpPr>
        <p:spPr>
          <a:xfrm>
            <a:off x="9116568" y="2313432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→ Power BI</a:t>
            </a:r>
            <a:endParaRPr lang="en-US" sz="950" dirty="0"/>
          </a:p>
        </p:txBody>
      </p:sp>
      <p:sp>
        <p:nvSpPr>
          <p:cNvPr id="63" name="Shape 23">
            <a:extLst>
              <a:ext uri="{FF2B5EF4-FFF2-40B4-BE49-F238E27FC236}">
                <a16:creationId xmlns:a16="http://schemas.microsoft.com/office/drawing/2014/main" id="{E2327FF2-FE6A-E60D-B4F6-6BAA126A4355}"/>
              </a:ext>
            </a:extLst>
          </p:cNvPr>
          <p:cNvSpPr/>
          <p:nvPr/>
        </p:nvSpPr>
        <p:spPr>
          <a:xfrm>
            <a:off x="10309860" y="2944368"/>
            <a:ext cx="0" cy="1106424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64" name="Shape 24">
            <a:extLst>
              <a:ext uri="{FF2B5EF4-FFF2-40B4-BE49-F238E27FC236}">
                <a16:creationId xmlns:a16="http://schemas.microsoft.com/office/drawing/2014/main" id="{FCE27A78-6ADF-257B-5A33-E3A66BF9ACB0}"/>
              </a:ext>
            </a:extLst>
          </p:cNvPr>
          <p:cNvSpPr/>
          <p:nvPr/>
        </p:nvSpPr>
        <p:spPr>
          <a:xfrm>
            <a:off x="9006840" y="416052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7DEAB90E-700C-8036-D79B-FA48F41664D1}"/>
              </a:ext>
            </a:extLst>
          </p:cNvPr>
          <p:cNvSpPr/>
          <p:nvPr/>
        </p:nvSpPr>
        <p:spPr>
          <a:xfrm>
            <a:off x="10081260" y="3931920"/>
            <a:ext cx="457200" cy="45720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6" name="Text 26">
            <a:extLst>
              <a:ext uri="{FF2B5EF4-FFF2-40B4-BE49-F238E27FC236}">
                <a16:creationId xmlns:a16="http://schemas.microsoft.com/office/drawing/2014/main" id="{4907A586-AD97-ACEF-DF27-A2CBE3533FE5}"/>
              </a:ext>
            </a:extLst>
          </p:cNvPr>
          <p:cNvSpPr/>
          <p:nvPr/>
        </p:nvSpPr>
        <p:spPr>
          <a:xfrm>
            <a:off x="100812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67" name="Text 27">
            <a:extLst>
              <a:ext uri="{FF2B5EF4-FFF2-40B4-BE49-F238E27FC236}">
                <a16:creationId xmlns:a16="http://schemas.microsoft.com/office/drawing/2014/main" id="{2B6ECA5E-2F40-E121-5761-C0C3C1F351BB}"/>
              </a:ext>
            </a:extLst>
          </p:cNvPr>
          <p:cNvSpPr/>
          <p:nvPr/>
        </p:nvSpPr>
        <p:spPr>
          <a:xfrm>
            <a:off x="9116568" y="44531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1250" dirty="0"/>
          </a:p>
        </p:txBody>
      </p:sp>
      <p:sp>
        <p:nvSpPr>
          <p:cNvPr id="68" name="Text 28">
            <a:extLst>
              <a:ext uri="{FF2B5EF4-FFF2-40B4-BE49-F238E27FC236}">
                <a16:creationId xmlns:a16="http://schemas.microsoft.com/office/drawing/2014/main" id="{3553499B-0E06-8E49-51CE-2236C365A646}"/>
              </a:ext>
            </a:extLst>
          </p:cNvPr>
          <p:cNvSpPr/>
          <p:nvPr/>
        </p:nvSpPr>
        <p:spPr>
          <a:xfrm>
            <a:off x="9116568" y="4873752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Editor</a:t>
            </a:r>
            <a:endParaRPr lang="en-US" sz="950" dirty="0"/>
          </a:p>
        </p:txBody>
      </p:sp>
      <p:sp>
        <p:nvSpPr>
          <p:cNvPr id="69" name="Shape 29">
            <a:extLst>
              <a:ext uri="{FF2B5EF4-FFF2-40B4-BE49-F238E27FC236}">
                <a16:creationId xmlns:a16="http://schemas.microsoft.com/office/drawing/2014/main" id="{283B83D7-7DC9-F82A-31BB-454DA722E8E0}"/>
              </a:ext>
            </a:extLst>
          </p:cNvPr>
          <p:cNvSpPr/>
          <p:nvPr/>
        </p:nvSpPr>
        <p:spPr>
          <a:xfrm>
            <a:off x="8778240" y="477774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1AEBC342-5D58-726C-0868-52B70F02AA64}"/>
              </a:ext>
            </a:extLst>
          </p:cNvPr>
          <p:cNvSpPr/>
          <p:nvPr/>
        </p:nvSpPr>
        <p:spPr>
          <a:xfrm>
            <a:off x="6172200" y="416052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71" name="Shape 31">
            <a:extLst>
              <a:ext uri="{FF2B5EF4-FFF2-40B4-BE49-F238E27FC236}">
                <a16:creationId xmlns:a16="http://schemas.microsoft.com/office/drawing/2014/main" id="{1252F1D7-1864-FD5A-29E9-E54EE006F59B}"/>
              </a:ext>
            </a:extLst>
          </p:cNvPr>
          <p:cNvSpPr/>
          <p:nvPr/>
        </p:nvSpPr>
        <p:spPr>
          <a:xfrm>
            <a:off x="7246620" y="3931920"/>
            <a:ext cx="457200" cy="45720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C9FAFFC9-22FA-CB8C-DCA9-017437A3B72D}"/>
              </a:ext>
            </a:extLst>
          </p:cNvPr>
          <p:cNvSpPr/>
          <p:nvPr/>
        </p:nvSpPr>
        <p:spPr>
          <a:xfrm>
            <a:off x="72466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73" name="Text 33">
            <a:extLst>
              <a:ext uri="{FF2B5EF4-FFF2-40B4-BE49-F238E27FC236}">
                <a16:creationId xmlns:a16="http://schemas.microsoft.com/office/drawing/2014/main" id="{D79E66DB-92E3-2B8B-645F-5CC5E27D1B8B}"/>
              </a:ext>
            </a:extLst>
          </p:cNvPr>
          <p:cNvSpPr/>
          <p:nvPr/>
        </p:nvSpPr>
        <p:spPr>
          <a:xfrm>
            <a:off x="6281928" y="4160520"/>
            <a:ext cx="2386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250" dirty="0"/>
          </a:p>
        </p:txBody>
      </p:sp>
      <p:sp>
        <p:nvSpPr>
          <p:cNvPr id="74" name="Shape 34">
            <a:extLst>
              <a:ext uri="{FF2B5EF4-FFF2-40B4-BE49-F238E27FC236}">
                <a16:creationId xmlns:a16="http://schemas.microsoft.com/office/drawing/2014/main" id="{3825590D-0336-9011-4267-9B947AF50C47}"/>
              </a:ext>
            </a:extLst>
          </p:cNvPr>
          <p:cNvSpPr/>
          <p:nvPr/>
        </p:nvSpPr>
        <p:spPr>
          <a:xfrm>
            <a:off x="5943600" y="477774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75" name="Shape 35">
            <a:extLst>
              <a:ext uri="{FF2B5EF4-FFF2-40B4-BE49-F238E27FC236}">
                <a16:creationId xmlns:a16="http://schemas.microsoft.com/office/drawing/2014/main" id="{F319B2D1-EE71-6206-9B4C-C75106C3A2FA}"/>
              </a:ext>
            </a:extLst>
          </p:cNvPr>
          <p:cNvSpPr/>
          <p:nvPr/>
        </p:nvSpPr>
        <p:spPr>
          <a:xfrm>
            <a:off x="3337560" y="416052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76" name="Shape 36">
            <a:extLst>
              <a:ext uri="{FF2B5EF4-FFF2-40B4-BE49-F238E27FC236}">
                <a16:creationId xmlns:a16="http://schemas.microsoft.com/office/drawing/2014/main" id="{23A05CA2-840C-8C87-F4DD-1092923CE954}"/>
              </a:ext>
            </a:extLst>
          </p:cNvPr>
          <p:cNvSpPr/>
          <p:nvPr/>
        </p:nvSpPr>
        <p:spPr>
          <a:xfrm>
            <a:off x="4411980" y="3931920"/>
            <a:ext cx="457200" cy="45720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E454F76F-C9BC-1D76-75C3-FA5130CB5442}"/>
              </a:ext>
            </a:extLst>
          </p:cNvPr>
          <p:cNvSpPr/>
          <p:nvPr/>
        </p:nvSpPr>
        <p:spPr>
          <a:xfrm>
            <a:off x="44119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78" name="Text 38">
            <a:extLst>
              <a:ext uri="{FF2B5EF4-FFF2-40B4-BE49-F238E27FC236}">
                <a16:creationId xmlns:a16="http://schemas.microsoft.com/office/drawing/2014/main" id="{5BC01F4E-8154-91CA-173A-5C6828DA7AD1}"/>
              </a:ext>
            </a:extLst>
          </p:cNvPr>
          <p:cNvSpPr/>
          <p:nvPr/>
        </p:nvSpPr>
        <p:spPr>
          <a:xfrm>
            <a:off x="3447288" y="44531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1250" dirty="0"/>
          </a:p>
        </p:txBody>
      </p:sp>
      <p:sp>
        <p:nvSpPr>
          <p:cNvPr id="79" name="Text 39">
            <a:extLst>
              <a:ext uri="{FF2B5EF4-FFF2-40B4-BE49-F238E27FC236}">
                <a16:creationId xmlns:a16="http://schemas.microsoft.com/office/drawing/2014/main" id="{F9B06A06-9F7A-7066-01ED-E19EAB1E2E8A}"/>
              </a:ext>
            </a:extLst>
          </p:cNvPr>
          <p:cNvSpPr/>
          <p:nvPr/>
        </p:nvSpPr>
        <p:spPr>
          <a:xfrm>
            <a:off x="3447288" y="4873752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50" dirty="0"/>
          </a:p>
        </p:txBody>
      </p:sp>
      <p:sp>
        <p:nvSpPr>
          <p:cNvPr id="80" name="Shape 40">
            <a:extLst>
              <a:ext uri="{FF2B5EF4-FFF2-40B4-BE49-F238E27FC236}">
                <a16:creationId xmlns:a16="http://schemas.microsoft.com/office/drawing/2014/main" id="{BF9F0775-CAF4-5B39-CE3C-77AADB7FFFAA}"/>
              </a:ext>
            </a:extLst>
          </p:cNvPr>
          <p:cNvSpPr/>
          <p:nvPr/>
        </p:nvSpPr>
        <p:spPr>
          <a:xfrm>
            <a:off x="3108960" y="477774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triangle"/>
          </a:ln>
        </p:spPr>
      </p:sp>
      <p:sp>
        <p:nvSpPr>
          <p:cNvPr id="81" name="Shape 41">
            <a:extLst>
              <a:ext uri="{FF2B5EF4-FFF2-40B4-BE49-F238E27FC236}">
                <a16:creationId xmlns:a16="http://schemas.microsoft.com/office/drawing/2014/main" id="{316DFFAD-4FF3-7079-BCA5-E2DD026404F2}"/>
              </a:ext>
            </a:extLst>
          </p:cNvPr>
          <p:cNvSpPr/>
          <p:nvPr/>
        </p:nvSpPr>
        <p:spPr>
          <a:xfrm>
            <a:off x="502920" y="416052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82" name="Shape 42">
            <a:extLst>
              <a:ext uri="{FF2B5EF4-FFF2-40B4-BE49-F238E27FC236}">
                <a16:creationId xmlns:a16="http://schemas.microsoft.com/office/drawing/2014/main" id="{D0E071A6-5FED-5FAB-84CB-D8F550E2B848}"/>
              </a:ext>
            </a:extLst>
          </p:cNvPr>
          <p:cNvSpPr/>
          <p:nvPr/>
        </p:nvSpPr>
        <p:spPr>
          <a:xfrm>
            <a:off x="1577340" y="3931920"/>
            <a:ext cx="457200" cy="45720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3" name="Text 43">
            <a:extLst>
              <a:ext uri="{FF2B5EF4-FFF2-40B4-BE49-F238E27FC236}">
                <a16:creationId xmlns:a16="http://schemas.microsoft.com/office/drawing/2014/main" id="{59A625FE-A924-D71A-8275-FAC4DC1F435E}"/>
              </a:ext>
            </a:extLst>
          </p:cNvPr>
          <p:cNvSpPr/>
          <p:nvPr/>
        </p:nvSpPr>
        <p:spPr>
          <a:xfrm>
            <a:off x="15773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84" name="Text 44">
            <a:extLst>
              <a:ext uri="{FF2B5EF4-FFF2-40B4-BE49-F238E27FC236}">
                <a16:creationId xmlns:a16="http://schemas.microsoft.com/office/drawing/2014/main" id="{72D2F833-47A3-52DA-EFC8-FB5E6BB1FA48}"/>
              </a:ext>
            </a:extLst>
          </p:cNvPr>
          <p:cNvSpPr/>
          <p:nvPr/>
        </p:nvSpPr>
        <p:spPr>
          <a:xfrm>
            <a:off x="612648" y="4453128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Publishing</a:t>
            </a:r>
            <a:endParaRPr lang="en-US" sz="1250" dirty="0"/>
          </a:p>
        </p:txBody>
      </p:sp>
      <p:sp>
        <p:nvSpPr>
          <p:cNvPr id="85" name="Text 45">
            <a:extLst>
              <a:ext uri="{FF2B5EF4-FFF2-40B4-BE49-F238E27FC236}">
                <a16:creationId xmlns:a16="http://schemas.microsoft.com/office/drawing/2014/main" id="{DBA176A3-E55D-0ECA-31A0-F8F31BDC74E3}"/>
              </a:ext>
            </a:extLst>
          </p:cNvPr>
          <p:cNvSpPr/>
          <p:nvPr/>
        </p:nvSpPr>
        <p:spPr>
          <a:xfrm>
            <a:off x="612648" y="4873752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 / PBIX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123743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DB75F-B78C-5119-53DB-6D95A8D2C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27">
            <a:extLst>
              <a:ext uri="{FF2B5EF4-FFF2-40B4-BE49-F238E27FC236}">
                <a16:creationId xmlns:a16="http://schemas.microsoft.com/office/drawing/2014/main" id="{0BB2AD5F-FD75-E600-142F-53F3B81835E0}"/>
              </a:ext>
            </a:extLst>
          </p:cNvPr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7EB0356-C7F4-9368-6B0B-A1EF4274B4D2}"/>
              </a:ext>
            </a:extLst>
          </p:cNvPr>
          <p:cNvSpPr/>
          <p:nvPr/>
        </p:nvSpPr>
        <p:spPr>
          <a:xfrm>
            <a:off x="1133856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3B821879-AF70-2F82-E935-3BA36CDB34A0}"/>
              </a:ext>
            </a:extLst>
          </p:cNvPr>
          <p:cNvSpPr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Execution Milestones</a:t>
            </a:r>
            <a:endParaRPr lang="en-US" sz="300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89384F1B-6364-BB81-BBE8-109DEF3DFFE3}"/>
              </a:ext>
            </a:extLst>
          </p:cNvPr>
          <p:cNvSpPr/>
          <p:nvPr/>
        </p:nvSpPr>
        <p:spPr>
          <a:xfrm>
            <a:off x="50292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executed through 4 structured milestones, from planning and data preparation through to final validation and submission.</a:t>
            </a:r>
            <a:endParaRPr lang="en-US" sz="1300" dirty="0"/>
          </a:p>
        </p:txBody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3E26296F-8497-0A9E-9A19-6364CF0FB4DE}"/>
              </a:ext>
            </a:extLst>
          </p:cNvPr>
          <p:cNvSpPr/>
          <p:nvPr/>
        </p:nvSpPr>
        <p:spPr>
          <a:xfrm>
            <a:off x="502920" y="132588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1A27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97862F18-976B-C686-8EF1-1ECC7567F48F}"/>
              </a:ext>
            </a:extLst>
          </p:cNvPr>
          <p:cNvSpPr/>
          <p:nvPr/>
        </p:nvSpPr>
        <p:spPr>
          <a:xfrm>
            <a:off x="777240" y="1325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Used: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Cybersecurity Threats Dataset — 3,000 incident records across 10 countries &amp; 7 industries (2015–2024) from </a:t>
            </a: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250" dirty="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FDFE173A-04A7-B570-A30D-5918F0135125}"/>
              </a:ext>
            </a:extLst>
          </p:cNvPr>
          <p:cNvSpPr/>
          <p:nvPr/>
        </p:nvSpPr>
        <p:spPr>
          <a:xfrm>
            <a:off x="502920" y="2103120"/>
            <a:ext cx="2606040" cy="3291840"/>
          </a:xfrm>
          <a:prstGeom prst="roundRect">
            <a:avLst>
              <a:gd name="adj" fmla="val 2456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CF69A580-B560-F4A4-5EE1-ED16D652124D}"/>
              </a:ext>
            </a:extLst>
          </p:cNvPr>
          <p:cNvSpPr/>
          <p:nvPr/>
        </p:nvSpPr>
        <p:spPr>
          <a:xfrm>
            <a:off x="3108960" y="2514600"/>
            <a:ext cx="256032" cy="0"/>
          </a:xfrm>
          <a:prstGeom prst="line">
            <a:avLst/>
          </a:prstGeom>
          <a:noFill/>
          <a:ln w="19050">
            <a:solidFill>
              <a:srgbClr val="0E8FA8"/>
            </a:solidFill>
            <a:prstDash val="dash"/>
          </a:ln>
        </p:spPr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57F872C3-ADE4-A561-5346-E6364A9BE909}"/>
              </a:ext>
            </a:extLst>
          </p:cNvPr>
          <p:cNvSpPr/>
          <p:nvPr/>
        </p:nvSpPr>
        <p:spPr>
          <a:xfrm>
            <a:off x="1531620" y="1828800"/>
            <a:ext cx="548640" cy="54864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88E3ACA9-FCE4-0BB9-1F38-3E68FD413C6A}"/>
              </a:ext>
            </a:extLst>
          </p:cNvPr>
          <p:cNvSpPr/>
          <p:nvPr/>
        </p:nvSpPr>
        <p:spPr>
          <a:xfrm>
            <a:off x="15316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0412492A-9845-581B-4FE1-C049A480FF54}"/>
              </a:ext>
            </a:extLst>
          </p:cNvPr>
          <p:cNvSpPr/>
          <p:nvPr/>
        </p:nvSpPr>
        <p:spPr>
          <a:xfrm>
            <a:off x="685800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&amp; Data Preparation</a:t>
            </a:r>
            <a:endParaRPr lang="en-US" sz="125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BC92D77A-9903-7764-A52B-DFC2F5C0C542}"/>
              </a:ext>
            </a:extLst>
          </p:cNvPr>
          <p:cNvSpPr/>
          <p:nvPr/>
        </p:nvSpPr>
        <p:spPr>
          <a:xfrm>
            <a:off x="685800" y="34747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the problem statement, finalized objectives, and collected a ~3,000-record Kaggle cybersecurity dataset; cleaned and standardized it in Power Query, then submitted the initial report and PPT.</a:t>
            </a:r>
            <a:endParaRPr lang="en-US" sz="12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BEE47B5C-4C47-8BB1-BA4D-B429DDFDD949}"/>
              </a:ext>
            </a:extLst>
          </p:cNvPr>
          <p:cNvSpPr/>
          <p:nvPr/>
        </p:nvSpPr>
        <p:spPr>
          <a:xfrm>
            <a:off x="3364992" y="2103120"/>
            <a:ext cx="2606040" cy="3291840"/>
          </a:xfrm>
          <a:prstGeom prst="roundRect">
            <a:avLst>
              <a:gd name="adj" fmla="val 2456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61015359-2275-E56D-ACAA-E063830D0500}"/>
              </a:ext>
            </a:extLst>
          </p:cNvPr>
          <p:cNvSpPr/>
          <p:nvPr/>
        </p:nvSpPr>
        <p:spPr>
          <a:xfrm>
            <a:off x="5971032" y="2514600"/>
            <a:ext cx="256032" cy="0"/>
          </a:xfrm>
          <a:prstGeom prst="line">
            <a:avLst/>
          </a:prstGeom>
          <a:noFill/>
          <a:ln w="19050">
            <a:solidFill>
              <a:srgbClr val="0E8FA8"/>
            </a:solidFill>
            <a:prstDash val="dash"/>
          </a:ln>
        </p:spPr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EBEB2339-1D09-07DE-FB7F-C6333BDD185D}"/>
              </a:ext>
            </a:extLst>
          </p:cNvPr>
          <p:cNvSpPr/>
          <p:nvPr/>
        </p:nvSpPr>
        <p:spPr>
          <a:xfrm>
            <a:off x="4393692" y="1828800"/>
            <a:ext cx="548640" cy="54864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FBE8FE4A-A927-DE16-8D67-81FE7186C3C9}"/>
              </a:ext>
            </a:extLst>
          </p:cNvPr>
          <p:cNvSpPr/>
          <p:nvPr/>
        </p:nvSpPr>
        <p:spPr>
          <a:xfrm>
            <a:off x="439369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BCA241E6-FC4C-256F-47C9-CF936D61FFB2}"/>
              </a:ext>
            </a:extLst>
          </p:cNvPr>
          <p:cNvSpPr/>
          <p:nvPr/>
        </p:nvSpPr>
        <p:spPr>
          <a:xfrm>
            <a:off x="3547872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Development – Phase 1</a:t>
            </a:r>
            <a:endParaRPr lang="en-US" sz="125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E358B92F-9B96-A076-E7AE-82943A9A108B}"/>
              </a:ext>
            </a:extLst>
          </p:cNvPr>
          <p:cNvSpPr/>
          <p:nvPr/>
        </p:nvSpPr>
        <p:spPr>
          <a:xfrm>
            <a:off x="3547872" y="34747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DAX measures and KPIs, then designed the Executive Summary and Attack Type Analysis dashboards with slicers, navigation, and consistent formatting.</a:t>
            </a:r>
            <a:endParaRPr lang="en-US" sz="1200" dirty="0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CDD0F794-1535-17E7-2962-1AB561C3DC5E}"/>
              </a:ext>
            </a:extLst>
          </p:cNvPr>
          <p:cNvSpPr/>
          <p:nvPr/>
        </p:nvSpPr>
        <p:spPr>
          <a:xfrm>
            <a:off x="6227064" y="2103120"/>
            <a:ext cx="2606040" cy="3291840"/>
          </a:xfrm>
          <a:prstGeom prst="roundRect">
            <a:avLst>
              <a:gd name="adj" fmla="val 2456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58D9B55E-FD6A-B149-F1E5-55E98C50450D}"/>
              </a:ext>
            </a:extLst>
          </p:cNvPr>
          <p:cNvSpPr/>
          <p:nvPr/>
        </p:nvSpPr>
        <p:spPr>
          <a:xfrm>
            <a:off x="8833104" y="2514600"/>
            <a:ext cx="256032" cy="0"/>
          </a:xfrm>
          <a:prstGeom prst="line">
            <a:avLst/>
          </a:prstGeom>
          <a:noFill/>
          <a:ln w="19050">
            <a:solidFill>
              <a:srgbClr val="0E8FA8"/>
            </a:solidFill>
            <a:prstDash val="dash"/>
          </a:ln>
        </p:spPr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8630FED8-079A-7740-14DA-D64CE6347C3B}"/>
              </a:ext>
            </a:extLst>
          </p:cNvPr>
          <p:cNvSpPr/>
          <p:nvPr/>
        </p:nvSpPr>
        <p:spPr>
          <a:xfrm>
            <a:off x="7255764" y="1828800"/>
            <a:ext cx="548640" cy="54864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2F045A0C-1D7D-0F4C-2C98-6B5055D80879}"/>
              </a:ext>
            </a:extLst>
          </p:cNvPr>
          <p:cNvSpPr/>
          <p:nvPr/>
        </p:nvSpPr>
        <p:spPr>
          <a:xfrm>
            <a:off x="725576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1B516ABF-6937-F4BB-AC49-51F71EFEFF02}"/>
              </a:ext>
            </a:extLst>
          </p:cNvPr>
          <p:cNvSpPr/>
          <p:nvPr/>
        </p:nvSpPr>
        <p:spPr>
          <a:xfrm>
            <a:off x="6409944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Completion &amp; Documentation</a:t>
            </a:r>
            <a:endParaRPr lang="en-US" sz="125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18DE4A13-AA59-DD5C-C861-1893C8D4DBC4}"/>
              </a:ext>
            </a:extLst>
          </p:cNvPr>
          <p:cNvSpPr/>
          <p:nvPr/>
        </p:nvSpPr>
        <p:spPr>
          <a:xfrm>
            <a:off x="6409944" y="34747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Industry Risk Profile, Country Deep Dive, and Vulnerability &amp; Defense dashboards; tested all five for accuracy and updated the report with insights.</a:t>
            </a:r>
            <a:endParaRPr lang="en-US" sz="1200" dirty="0"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2526834F-4BA8-30A8-9761-1756BD24D09D}"/>
              </a:ext>
            </a:extLst>
          </p:cNvPr>
          <p:cNvSpPr/>
          <p:nvPr/>
        </p:nvSpPr>
        <p:spPr>
          <a:xfrm>
            <a:off x="9089136" y="2103120"/>
            <a:ext cx="2606040" cy="3291840"/>
          </a:xfrm>
          <a:prstGeom prst="roundRect">
            <a:avLst>
              <a:gd name="adj" fmla="val 2456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ED866FE7-58F0-4AD3-8F5C-0D78481D6B0A}"/>
              </a:ext>
            </a:extLst>
          </p:cNvPr>
          <p:cNvSpPr/>
          <p:nvPr/>
        </p:nvSpPr>
        <p:spPr>
          <a:xfrm>
            <a:off x="10117836" y="1828800"/>
            <a:ext cx="548640" cy="548640"/>
          </a:xfrm>
          <a:prstGeom prst="ellipse">
            <a:avLst/>
          </a:prstGeom>
          <a:solidFill>
            <a:srgbClr val="22D3E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4799F198-B771-BC78-03CB-0AA0DB11EBC8}"/>
              </a:ext>
            </a:extLst>
          </p:cNvPr>
          <p:cNvSpPr/>
          <p:nvPr/>
        </p:nvSpPr>
        <p:spPr>
          <a:xfrm>
            <a:off x="1011783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EBD9AAC5-74C2-16B2-4028-B5499812FFAC}"/>
              </a:ext>
            </a:extLst>
          </p:cNvPr>
          <p:cNvSpPr/>
          <p:nvPr/>
        </p:nvSpPr>
        <p:spPr>
          <a:xfrm>
            <a:off x="9272016" y="2560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Dashboards &amp; Final Submission</a:t>
            </a:r>
            <a:endParaRPr lang="en-US" sz="125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53325C97-AB2C-D8AB-1FB1-5AE0DF1B1358}"/>
              </a:ext>
            </a:extLst>
          </p:cNvPr>
          <p:cNvSpPr/>
          <p:nvPr/>
        </p:nvSpPr>
        <p:spPr>
          <a:xfrm>
            <a:off x="9272016" y="34747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the Severity &amp; Financial Impact and Pattern Radar dashboards, validated all seven, and finalized the report and presentation for submission</a:t>
            </a: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04353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3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925FA0FB-FD9B-7230-1C1F-ADBFCBB6540C}"/>
              </a:ext>
            </a:extLst>
          </p:cNvPr>
          <p:cNvSpPr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Resolutions</a:t>
            </a:r>
            <a:endParaRPr lang="en-US" sz="30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12A9112E-1191-8B76-B622-FD508DF6D63D}"/>
              </a:ext>
            </a:extLst>
          </p:cNvPr>
          <p:cNvSpPr/>
          <p:nvPr/>
        </p:nvSpPr>
        <p:spPr>
          <a:xfrm>
            <a:off x="914400" y="1051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E351376E-8999-A397-755F-22EE9A370B9B}"/>
              </a:ext>
            </a:extLst>
          </p:cNvPr>
          <p:cNvSpPr/>
          <p:nvPr/>
        </p:nvSpPr>
        <p:spPr>
          <a:xfrm>
            <a:off x="6400800" y="1051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2372DE07-D38E-0A13-63EE-05AA49923CCA}"/>
              </a:ext>
            </a:extLst>
          </p:cNvPr>
          <p:cNvSpPr/>
          <p:nvPr/>
        </p:nvSpPr>
        <p:spPr>
          <a:xfrm>
            <a:off x="502920" y="14630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141E33"/>
          </a:solidFill>
          <a:ln w="12700">
            <a:solidFill>
              <a:srgbClr val="F4506B"/>
            </a:solidFill>
            <a:prstDash val="solid"/>
          </a:ln>
        </p:spPr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B98DBC5C-C4D5-0683-859C-FA72DE1D856A}"/>
              </a:ext>
            </a:extLst>
          </p:cNvPr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F4506B"/>
            </a:solidFill>
            <a:prstDash val="solid"/>
          </a:ln>
        </p:spPr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53BC864F-1869-FA9F-B0BD-87E1B9B2F616}"/>
              </a:ext>
            </a:extLst>
          </p:cNvPr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653F6E47-39B1-5BA8-E120-2B52A8710440}"/>
              </a:ext>
            </a:extLst>
          </p:cNvPr>
          <p:cNvSpPr/>
          <p:nvPr/>
        </p:nvSpPr>
        <p:spPr>
          <a:xfrm>
            <a:off x="1371600" y="16002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Kaggle dataset had missing values, duplicate records, and inconsistent naming (e.g. country/industry text variations)</a:t>
            </a:r>
            <a:endParaRPr lang="en-US" sz="120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D215F0F5-DD93-84CC-DB02-DB22EB625648}"/>
              </a:ext>
            </a:extLst>
          </p:cNvPr>
          <p:cNvSpPr/>
          <p:nvPr/>
        </p:nvSpPr>
        <p:spPr>
          <a:xfrm>
            <a:off x="5897880" y="19431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6E688258-A409-73A1-17CC-EB7F914B3C85}"/>
              </a:ext>
            </a:extLst>
          </p:cNvPr>
          <p:cNvSpPr/>
          <p:nvPr/>
        </p:nvSpPr>
        <p:spPr>
          <a:xfrm>
            <a:off x="6400800" y="14630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141E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9507C356-D167-67A7-E795-39088613F2B1}"/>
              </a:ext>
            </a:extLst>
          </p:cNvPr>
          <p:cNvSpPr/>
          <p:nvPr/>
        </p:nvSpPr>
        <p:spPr>
          <a:xfrm>
            <a:off x="6629400" y="169164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555C267C-423A-8330-B8F7-170A25A2C7DC}"/>
              </a:ext>
            </a:extLst>
          </p:cNvPr>
          <p:cNvSpPr/>
          <p:nvPr/>
        </p:nvSpPr>
        <p:spPr>
          <a:xfrm>
            <a:off x="66294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514CB1DD-74E0-1EEF-D4C0-C1543BB90CEE}"/>
              </a:ext>
            </a:extLst>
          </p:cNvPr>
          <p:cNvSpPr/>
          <p:nvPr/>
        </p:nvSpPr>
        <p:spPr>
          <a:xfrm>
            <a:off x="7269480" y="16002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it in Power Query Editor — removed duplicates, handled nulls, standardized text values, and corrected data types.</a:t>
            </a:r>
            <a:endParaRPr lang="en-US" sz="1200" dirty="0"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85876C74-AF4B-9D07-93B9-9843EEDF7448}"/>
              </a:ext>
            </a:extLst>
          </p:cNvPr>
          <p:cNvSpPr/>
          <p:nvPr/>
        </p:nvSpPr>
        <p:spPr>
          <a:xfrm>
            <a:off x="502920" y="30632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141E33"/>
          </a:solidFill>
          <a:ln w="12700">
            <a:solidFill>
              <a:srgbClr val="F4506B"/>
            </a:solidFill>
            <a:prstDash val="solid"/>
          </a:ln>
        </p:spPr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045F8114-0B33-CB4C-D4AA-5F352B258B31}"/>
              </a:ext>
            </a:extLst>
          </p:cNvPr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F4506B"/>
            </a:solidFill>
            <a:prstDash val="solid"/>
          </a:ln>
        </p:spPr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A228E60C-11C2-A8C1-758C-9DC706579CB7}"/>
              </a:ext>
            </a:extLst>
          </p:cNvPr>
          <p:cNvSpPr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2EEDEDDA-37EC-7A7F-BEA9-38B6F72020D8}"/>
              </a:ext>
            </a:extLst>
          </p:cNvPr>
          <p:cNvSpPr/>
          <p:nvPr/>
        </p:nvSpPr>
        <p:spPr>
          <a:xfrm>
            <a:off x="1371600" y="32004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slicers and visuals interactive and consistent across all 7 dashboard pages was tricky to manage</a:t>
            </a:r>
            <a:endParaRPr lang="en-US" sz="1200" dirty="0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242DDACD-A6BA-3325-36BD-16636176500C}"/>
              </a:ext>
            </a:extLst>
          </p:cNvPr>
          <p:cNvSpPr/>
          <p:nvPr/>
        </p:nvSpPr>
        <p:spPr>
          <a:xfrm>
            <a:off x="5897880" y="35433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9B403F72-76B6-7F32-C9B7-4DDD234FB881}"/>
              </a:ext>
            </a:extLst>
          </p:cNvPr>
          <p:cNvSpPr/>
          <p:nvPr/>
        </p:nvSpPr>
        <p:spPr>
          <a:xfrm>
            <a:off x="6400800" y="30632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141E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5CA0B4B0-3929-B866-B783-A9CDAF1F0798}"/>
              </a:ext>
            </a:extLst>
          </p:cNvPr>
          <p:cNvSpPr/>
          <p:nvPr/>
        </p:nvSpPr>
        <p:spPr>
          <a:xfrm>
            <a:off x="6629400" y="329184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58F4FBB8-C115-5FA0-B603-99BCE26ED411}"/>
              </a:ext>
            </a:extLst>
          </p:cNvPr>
          <p:cNvSpPr/>
          <p:nvPr/>
        </p:nvSpPr>
        <p:spPr>
          <a:xfrm>
            <a:off x="66294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7F336E93-2731-E3A5-A902-BE3C445B9AAE}"/>
              </a:ext>
            </a:extLst>
          </p:cNvPr>
          <p:cNvSpPr/>
          <p:nvPr/>
        </p:nvSpPr>
        <p:spPr>
          <a:xfrm>
            <a:off x="7269480" y="32004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Sync Slicers and Edit Interactions so every page shares the same consistent filtering experience.</a:t>
            </a:r>
            <a:endParaRPr lang="en-US" sz="1200" dirty="0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82339F83-D7AF-6E4F-2A7B-522C3CE4DC4E}"/>
              </a:ext>
            </a:extLst>
          </p:cNvPr>
          <p:cNvSpPr/>
          <p:nvPr/>
        </p:nvSpPr>
        <p:spPr>
          <a:xfrm>
            <a:off x="502920" y="46634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141E33"/>
          </a:solidFill>
          <a:ln w="12700">
            <a:solidFill>
              <a:srgbClr val="F4506B"/>
            </a:solidFill>
            <a:prstDash val="solid"/>
          </a:ln>
        </p:spPr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575C3733-2C1C-F5C6-5E47-363508EA96CB}"/>
              </a:ext>
            </a:extLst>
          </p:cNvPr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F4506B"/>
            </a:solidFill>
            <a:prstDash val="solid"/>
          </a:ln>
        </p:spPr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6E5CDF42-60E3-64BF-975F-DD927FD19E87}"/>
              </a:ext>
            </a:extLst>
          </p:cNvPr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F7AB818B-337F-7831-5279-BD3270EA36A1}"/>
              </a:ext>
            </a:extLst>
          </p:cNvPr>
          <p:cNvSpPr/>
          <p:nvPr/>
        </p:nvSpPr>
        <p:spPr>
          <a:xfrm>
            <a:off x="1371600" y="48006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accurate DAX for KPIs like Avg Resolution Time and High-Risk Incidents without slowing the report down</a:t>
            </a:r>
            <a:endParaRPr lang="en-US" sz="1200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A4523BA6-61F6-CCD3-8DD3-C77DB1FE5197}"/>
              </a:ext>
            </a:extLst>
          </p:cNvPr>
          <p:cNvSpPr/>
          <p:nvPr/>
        </p:nvSpPr>
        <p:spPr>
          <a:xfrm>
            <a:off x="5897880" y="51435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D2F3579D-1B75-6E36-7CA4-291DCFA3179C}"/>
              </a:ext>
            </a:extLst>
          </p:cNvPr>
          <p:cNvSpPr/>
          <p:nvPr/>
        </p:nvSpPr>
        <p:spPr>
          <a:xfrm>
            <a:off x="6400800" y="46634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141E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1" name="Shape 27">
            <a:extLst>
              <a:ext uri="{FF2B5EF4-FFF2-40B4-BE49-F238E27FC236}">
                <a16:creationId xmlns:a16="http://schemas.microsoft.com/office/drawing/2014/main" id="{4235AE82-1D25-FFF8-921F-7734808875E7}"/>
              </a:ext>
            </a:extLst>
          </p:cNvPr>
          <p:cNvSpPr/>
          <p:nvPr/>
        </p:nvSpPr>
        <p:spPr>
          <a:xfrm>
            <a:off x="6629400" y="489204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D0460FD0-2977-2A3D-AC04-A1AF294C838C}"/>
              </a:ext>
            </a:extLst>
          </p:cNvPr>
          <p:cNvSpPr/>
          <p:nvPr/>
        </p:nvSpPr>
        <p:spPr>
          <a:xfrm>
            <a:off x="66294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D699E40A-74E1-753B-E652-E59041A06F86}"/>
              </a:ext>
            </a:extLst>
          </p:cNvPr>
          <p:cNvSpPr/>
          <p:nvPr/>
        </p:nvSpPr>
        <p:spPr>
          <a:xfrm>
            <a:off x="7269480" y="48006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variables and CALCULATE-based measures, validating each one against the raw data before publishing.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 &amp; Skills Acquired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141E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Power BI report design &amp; data modeling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DAX measure writing (KPIs, risk, ratios)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62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Power Query data cleaning &amp; transformation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5295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Interactive UX — slicers, drill-throughs, filters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05156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141E33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SKILLS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828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Analytical &amp; structured problem solving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3957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Clear presentation of data-driven insights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962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Time management across milestones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5295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Attention to detail during review &amp; QA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5074920"/>
            <a:ext cx="11155680" cy="777240"/>
          </a:xfrm>
          <a:prstGeom prst="roundRect">
            <a:avLst>
              <a:gd name="adj" fmla="val 8235"/>
            </a:avLst>
          </a:prstGeom>
          <a:solidFill>
            <a:srgbClr val="1A2745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this project bridged academic Power BI knowledge with a real-world cybersecurity reporting scenario, building both technical depth and presentation confidence.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2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EA311022-5A4A-308E-457B-7B39986A307B}"/>
              </a:ext>
            </a:extLst>
          </p:cNvPr>
          <p:cNvSpPr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 &amp; Key Insights</a:t>
            </a:r>
            <a:endParaRPr lang="en-US" sz="300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6A1897F3-1B41-5250-A0C8-6875288D3606}"/>
              </a:ext>
            </a:extLst>
          </p:cNvPr>
          <p:cNvSpPr/>
          <p:nvPr/>
        </p:nvSpPr>
        <p:spPr>
          <a:xfrm>
            <a:off x="50292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C41933F2-A225-4F4E-9485-B3426559E720}"/>
              </a:ext>
            </a:extLst>
          </p:cNvPr>
          <p:cNvSpPr/>
          <p:nvPr/>
        </p:nvSpPr>
        <p:spPr>
          <a:xfrm>
            <a:off x="502920" y="146304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730450C7-27E9-FEB7-0065-44EEFFD08A35}"/>
              </a:ext>
            </a:extLst>
          </p:cNvPr>
          <p:cNvSpPr/>
          <p:nvPr/>
        </p:nvSpPr>
        <p:spPr>
          <a:xfrm>
            <a:off x="658368" y="155448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7DB0F48B-76A6-F36F-6828-F0FF6F36A4E7}"/>
              </a:ext>
            </a:extLst>
          </p:cNvPr>
          <p:cNvSpPr/>
          <p:nvPr/>
        </p:nvSpPr>
        <p:spPr>
          <a:xfrm>
            <a:off x="6583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3880B167-A262-344A-0031-6A23B3754D14}"/>
              </a:ext>
            </a:extLst>
          </p:cNvPr>
          <p:cNvSpPr/>
          <p:nvPr/>
        </p:nvSpPr>
        <p:spPr>
          <a:xfrm>
            <a:off x="1280160" y="1463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threat-feed APIs for live monitoring</a:t>
            </a:r>
            <a:endParaRPr lang="en-US" sz="1150" dirty="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F01C5DE3-79B2-E2DF-94CB-9558B1093C73}"/>
              </a:ext>
            </a:extLst>
          </p:cNvPr>
          <p:cNvSpPr/>
          <p:nvPr/>
        </p:nvSpPr>
        <p:spPr>
          <a:xfrm>
            <a:off x="502920" y="224028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C67A12FC-831F-7A26-9F17-C638193F139C}"/>
              </a:ext>
            </a:extLst>
          </p:cNvPr>
          <p:cNvSpPr/>
          <p:nvPr/>
        </p:nvSpPr>
        <p:spPr>
          <a:xfrm>
            <a:off x="658368" y="233172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18BCAD4B-2302-E4AF-3E05-BBCA91A9D2BB}"/>
              </a:ext>
            </a:extLst>
          </p:cNvPr>
          <p:cNvSpPr/>
          <p:nvPr/>
        </p:nvSpPr>
        <p:spPr>
          <a:xfrm>
            <a:off x="65836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A1913250-4954-8E2B-2391-DC1D88699810}"/>
              </a:ext>
            </a:extLst>
          </p:cNvPr>
          <p:cNvSpPr/>
          <p:nvPr/>
        </p:nvSpPr>
        <p:spPr>
          <a:xfrm>
            <a:off x="1280160" y="2240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ML-based anomaly detection for predictive risk scoring</a:t>
            </a:r>
            <a:endParaRPr lang="en-US" sz="1150" dirty="0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5CA5C490-77A7-1D9F-2E40-6E735B3AA30D}"/>
              </a:ext>
            </a:extLst>
          </p:cNvPr>
          <p:cNvSpPr/>
          <p:nvPr/>
        </p:nvSpPr>
        <p:spPr>
          <a:xfrm>
            <a:off x="502920" y="301752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3C229BB2-4D1E-A3B5-94D9-756EAD07EB08}"/>
              </a:ext>
            </a:extLst>
          </p:cNvPr>
          <p:cNvSpPr/>
          <p:nvPr/>
        </p:nvSpPr>
        <p:spPr>
          <a:xfrm>
            <a:off x="658368" y="310896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76FAFC8A-E716-0DA8-73CC-A50AC4B28A85}"/>
              </a:ext>
            </a:extLst>
          </p:cNvPr>
          <p:cNvSpPr/>
          <p:nvPr/>
        </p:nvSpPr>
        <p:spPr>
          <a:xfrm>
            <a:off x="65836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BB77D88D-BA52-EA31-D765-D20BC04F7174}"/>
              </a:ext>
            </a:extLst>
          </p:cNvPr>
          <p:cNvSpPr/>
          <p:nvPr/>
        </p:nvSpPr>
        <p:spPr>
          <a:xfrm>
            <a:off x="1280160" y="3017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web-embedded Power BI app for wider access</a:t>
            </a:r>
            <a:endParaRPr lang="en-US" sz="115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74E116A5-0850-1FA0-E8F3-882E5689228B}"/>
              </a:ext>
            </a:extLst>
          </p:cNvPr>
          <p:cNvSpPr/>
          <p:nvPr/>
        </p:nvSpPr>
        <p:spPr>
          <a:xfrm>
            <a:off x="502920" y="379476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1CE7DAD7-5272-35D2-DBBB-F756BAC09A21}"/>
              </a:ext>
            </a:extLst>
          </p:cNvPr>
          <p:cNvSpPr/>
          <p:nvPr/>
        </p:nvSpPr>
        <p:spPr>
          <a:xfrm>
            <a:off x="658368" y="388620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8700B237-E9C9-A73A-7A04-C234E944336F}"/>
              </a:ext>
            </a:extLst>
          </p:cNvPr>
          <p:cNvSpPr/>
          <p:nvPr/>
        </p:nvSpPr>
        <p:spPr>
          <a:xfrm>
            <a:off x="65836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E015BC8C-1EB4-4861-0F13-C5F26A042626}"/>
              </a:ext>
            </a:extLst>
          </p:cNvPr>
          <p:cNvSpPr/>
          <p:nvPr/>
        </p:nvSpPr>
        <p:spPr>
          <a:xfrm>
            <a:off x="1280160" y="3794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with more countries and attack vectors</a:t>
            </a:r>
            <a:endParaRPr lang="en-US" sz="115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9478A82B-B50B-ED70-27FB-D82A76B01E62}"/>
              </a:ext>
            </a:extLst>
          </p:cNvPr>
          <p:cNvSpPr/>
          <p:nvPr/>
        </p:nvSpPr>
        <p:spPr>
          <a:xfrm>
            <a:off x="630936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1796A014-0751-E415-641D-94047F7516F4}"/>
              </a:ext>
            </a:extLst>
          </p:cNvPr>
          <p:cNvSpPr/>
          <p:nvPr/>
        </p:nvSpPr>
        <p:spPr>
          <a:xfrm>
            <a:off x="6309360" y="146304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1A2745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8C7E7F33-5C85-E9CD-4AC2-703E712C05EE}"/>
              </a:ext>
            </a:extLst>
          </p:cNvPr>
          <p:cNvSpPr/>
          <p:nvPr/>
        </p:nvSpPr>
        <p:spPr>
          <a:xfrm>
            <a:off x="6583680" y="1463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vulnerabilities top every metric — highest incident volume (1.59M) and highest financial loss (39.55K) — making patch speed the #1 defense priority.</a:t>
            </a:r>
            <a:endParaRPr lang="en-US" sz="1100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BF36E3A7-32D3-BEF0-C23B-D723D252DDDF}"/>
              </a:ext>
            </a:extLst>
          </p:cNvPr>
          <p:cNvSpPr/>
          <p:nvPr/>
        </p:nvSpPr>
        <p:spPr>
          <a:xfrm>
            <a:off x="6309360" y="269748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1A2745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39A12F87-46A4-A3E1-05E6-E0314DF135CA}"/>
              </a:ext>
            </a:extLst>
          </p:cNvPr>
          <p:cNvSpPr/>
          <p:nvPr/>
        </p:nvSpPr>
        <p:spPr>
          <a:xfrm>
            <a:off x="6583680" y="2697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absorbs the highest financial loss (25K) and most high-risk incidents (134) of any industry, even though Government holds the largest attack share (15.9%).</a:t>
            </a:r>
            <a:endParaRPr lang="en-US" sz="1100" dirty="0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DEE284EF-5DFF-5EA6-1730-243A9AF7B7A1}"/>
              </a:ext>
            </a:extLst>
          </p:cNvPr>
          <p:cNvSpPr/>
          <p:nvPr/>
        </p:nvSpPr>
        <p:spPr>
          <a:xfrm>
            <a:off x="6309360" y="393192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1A2745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1DDE08B1-40D9-54D4-F5F8-A45F568853A1}"/>
              </a:ext>
            </a:extLst>
          </p:cNvPr>
          <p:cNvSpPr/>
          <p:nvPr/>
        </p:nvSpPr>
        <p:spPr>
          <a:xfrm>
            <a:off x="6583680" y="3931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volume dipped sharply in 2020 (263 attacks) then rebounded to a peak of 348 in 2022; SQL Injection carries the highest high-risk loss ratio (0.29) of any attack type.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141E33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2729"/>
            <a:ext cx="5486400" cy="77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Threat Analytics Platform with Incident Visualization System </a:t>
            </a:r>
            <a:r>
              <a:rPr lang="en-US" sz="2200" dirty="0">
                <a:solidFill>
                  <a:srgbClr val="9FB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 transformed raw global cyber-attack records into an interactive, decision-ready threat intelligence platform.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3584448" cy="2834640"/>
          </a:xfrm>
          <a:prstGeom prst="roundRect">
            <a:avLst>
              <a:gd name="adj" fmla="val 2581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01752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/ Technical Impact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end-to-end Power BI skills — from data modeling and DAX to interactive UX design.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88536" y="2743200"/>
            <a:ext cx="3584448" cy="2834640"/>
          </a:xfrm>
          <a:prstGeom prst="roundRect">
            <a:avLst>
              <a:gd name="adj" fmla="val 2581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301752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2856" y="365760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/ Practical Experience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62856" y="4206240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 real-world SOC-style reporting environment used by security executives and analysts.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74152" y="2743200"/>
            <a:ext cx="3584448" cy="2834640"/>
          </a:xfrm>
          <a:prstGeom prst="roundRect">
            <a:avLst>
              <a:gd name="adj" fmla="val 2581"/>
            </a:avLst>
          </a:prstGeom>
          <a:solidFill>
            <a:srgbClr val="141E33"/>
          </a:solidFill>
          <a:ln w="12700">
            <a:solidFill>
              <a:srgbClr val="1A27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8472" y="3017520"/>
            <a:ext cx="457200" cy="457200"/>
          </a:xfrm>
          <a:prstGeom prst="ellipse">
            <a:avLst/>
          </a:prstGeom>
          <a:solidFill>
            <a:srgbClr val="1A27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48472" y="365760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Conclusion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48472" y="4206240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data analytics can sharpen cybersecurity awareness and response prioritization.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 &amp;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41E33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r>
              <a:rPr lang="en-IN" dirty="0"/>
              <a:t>A</a:t>
            </a:r>
            <a:endParaRPr lang="en-ID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to express my heartfelt gratitude to: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r>
              <a:rPr lang="en-US" sz="1600" dirty="0">
                <a:solidFill>
                  <a:schemeClr val="bg1"/>
                </a:solidFill>
              </a:rPr>
              <a:t>Mrs. Nithyasri S J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754880" cy="67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fellow team members are </a:t>
            </a:r>
            <a:r>
              <a:rPr lang="en-US" sz="1600" dirty="0">
                <a:solidFill>
                  <a:schemeClr val="bg1"/>
                </a:solidFill>
              </a:rPr>
              <a:t>Janani G K, Nandana N Nair,</a:t>
            </a:r>
            <a:r>
              <a:rPr lang="en-ID" sz="160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Himanshu Kumar Soni</a:t>
            </a:r>
            <a:r>
              <a:rPr lang="en-ID" sz="1600" dirty="0">
                <a:solidFill>
                  <a:schemeClr val="bg1"/>
                </a:solidFill>
              </a:rPr>
              <a:t>, </a:t>
            </a:r>
            <a:r>
              <a:rPr lang="en-US" sz="1600" dirty="0">
                <a:solidFill>
                  <a:schemeClr val="bg1"/>
                </a:solidFill>
              </a:rPr>
              <a:t>Narayani </a:t>
            </a:r>
            <a:r>
              <a:rPr lang="en-US" sz="1600" dirty="0" err="1">
                <a:solidFill>
                  <a:schemeClr val="bg1"/>
                </a:solidFill>
              </a:rPr>
              <a:t>Kantamreddy</a:t>
            </a:r>
            <a:r>
              <a:rPr lang="en-US" sz="1600" dirty="0">
                <a:solidFill>
                  <a:schemeClr val="bg1"/>
                </a:solidFill>
              </a:rPr>
              <a:t> and  Bindu </a:t>
            </a:r>
            <a:r>
              <a:rPr lang="en-US" sz="1600" dirty="0" err="1">
                <a:solidFill>
                  <a:schemeClr val="bg1"/>
                </a:solidFill>
              </a:rPr>
              <a:t>Kotnala</a:t>
            </a:r>
            <a:endParaRPr lang="en-ID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0972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41E33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325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828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Global Cybersecurity Threats Dataset (Kaggle)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423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Microsoft Power BI official documentation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Infosys Springboard Virtual Internship 7.0 training materials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41E33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141E3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888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37033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41605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Nagalla Gohitha Meghana]  |  Infosys Springboard Virtual Internship 7.0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1230</Words>
  <Application>Microsoft Office PowerPoint</Application>
  <PresentationFormat>Widescreen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Gohitha Meghana Nagalla</cp:lastModifiedBy>
  <cp:revision>5</cp:revision>
  <dcterms:created xsi:type="dcterms:W3CDTF">2026-08-15T15:04:47Z</dcterms:created>
  <dcterms:modified xsi:type="dcterms:W3CDTF">2026-08-15T16:08:57Z</dcterms:modified>
</cp:coreProperties>
</file>