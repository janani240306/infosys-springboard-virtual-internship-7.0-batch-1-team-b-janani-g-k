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00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51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28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389120"/>
            <a:ext cx="4206240" cy="4206240"/>
          </a:xfrm>
          <a:prstGeom prst="ellipse">
            <a:avLst/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91556" y="822960"/>
            <a:ext cx="1005840" cy="10058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1060704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317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THREAT ANALYTICS PLATFORM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29718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INCIDENT VISUALIZATION SYSTEM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·  Global Cybersecurity Threat Intelligence Dashboard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18304" y="4160520"/>
            <a:ext cx="2743200" cy="0"/>
          </a:xfrm>
          <a:prstGeom prst="line">
            <a:avLst/>
          </a:prstGeom>
          <a:noFill/>
          <a:ln w="15875">
            <a:solidFill>
              <a:srgbClr val="1B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4434840"/>
            <a:ext cx="10725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Kumar Soni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48463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5230368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 </a:t>
            </a: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Nithyasri S 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801368"/>
            <a:ext cx="566928" cy="566928"/>
          </a:xfrm>
          <a:prstGeom prst="ellipse">
            <a:avLst/>
          </a:prstGeom>
          <a:solidFill>
            <a:srgbClr val="1B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202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4920" y="17099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B2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1248" y="2468880"/>
            <a:ext cx="4764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Monitoring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2834640"/>
            <a:ext cx="4764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analyze cybersecurity incident data while monitoring security events efficiently.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508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56248" y="1801368"/>
            <a:ext cx="566928" cy="566928"/>
          </a:xfrm>
          <a:prstGeom prst="ellipse">
            <a:avLst/>
          </a:prstGeom>
          <a:solidFill>
            <a:srgbClr val="1B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9202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789920" y="17099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B2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56248" y="2468880"/>
            <a:ext cx="4764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 &amp; Trend Analysis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56248" y="2834640"/>
            <a:ext cx="4764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suspicious activities and emerging threats, and analyze attack trends across countries and industries.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41248" y="4087368"/>
            <a:ext cx="566928" cy="566928"/>
          </a:xfrm>
          <a:prstGeom prst="ellipse">
            <a:avLst/>
          </a:prstGeom>
          <a:solidFill>
            <a:srgbClr val="1B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alerttrian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20624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39959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B2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41248" y="4754880"/>
            <a:ext cx="4764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 &amp; Financial Impact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1248" y="5120640"/>
            <a:ext cx="4764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incidents by attack type and severity, and evaluate the financial losses caused by cyber attacks.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6364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556248" y="4087368"/>
            <a:ext cx="566928" cy="566928"/>
          </a:xfrm>
          <a:prstGeom prst="ellipse">
            <a:avLst/>
          </a:prstGeom>
          <a:solidFill>
            <a:srgbClr val="1B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icons/moni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206240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0" y="39959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B2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556248" y="4754880"/>
            <a:ext cx="4764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Development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556248" y="5120640"/>
            <a:ext cx="4764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interactive dashboards for real-time security monitoring and decision support.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18311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Description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Intelligence project built in Microsoft Power BI that transforms a decade (2015–2024) of global cybersecurity incident data into interactive dashboards for monitoring attack patterns, assessing risk, and supporting strategic decision-making.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6384" y="2523744"/>
            <a:ext cx="457200" cy="457200"/>
          </a:xfrm>
          <a:prstGeom prst="ellipse">
            <a:avLst/>
          </a:prstGeom>
          <a:solidFill>
            <a:srgbClr val="1B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62432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86384" y="3264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Understanding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86384" y="361188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~3,000 cybersecurity incident records (2015–2024) from Kaggle and studied their structure and quality.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06824" y="228600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44568" y="2523744"/>
            <a:ext cx="457200" cy="457200"/>
          </a:xfrm>
          <a:prstGeom prst="ellipse">
            <a:avLst/>
          </a:prstGeom>
          <a:solidFill>
            <a:srgbClr val="1B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slider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62432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44568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44568" y="3264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Connection &amp; Preprocessing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44568" y="361188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dataset in Power BI and cleaned it via Power Query — removing duplicates, errors, and inconsistencies.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065008" y="228600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302752" y="2523744"/>
            <a:ext cx="457200" cy="457200"/>
          </a:xfrm>
          <a:prstGeom prst="ellipse">
            <a:avLst/>
          </a:prstGeom>
          <a:solidFill>
            <a:srgbClr val="1B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262432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02752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302752" y="3264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(DAX &amp; KPIs)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302752" y="361188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DAX measures and KPIs for financial loss, affected users, resolution time, and incident volume.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48640" y="4507992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86384" y="4745736"/>
            <a:ext cx="457200" cy="457200"/>
          </a:xfrm>
          <a:prstGeom prst="ellipse">
            <a:avLst/>
          </a:prstGeom>
          <a:solidFill>
            <a:srgbClr val="1B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icons/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846320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6384" y="528523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86384" y="5486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86384" y="583387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seven interactive Power BI dashboards using KPI cards, charts, maps, and slicers.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306824" y="4507992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544568" y="4745736"/>
            <a:ext cx="457200" cy="457200"/>
          </a:xfrm>
          <a:prstGeom prst="ellipse">
            <a:avLst/>
          </a:prstGeom>
          <a:solidFill>
            <a:srgbClr val="1B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icons/check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4846320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44568" y="528523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544568" y="5486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4544568" y="583387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calculations and interactions across all dashboards for accuracy and smooth performance.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8065008" y="4507992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8302752" y="4745736"/>
            <a:ext cx="457200" cy="457200"/>
          </a:xfrm>
          <a:prstGeom prst="ellipse">
            <a:avLst/>
          </a:prstGeom>
          <a:solidFill>
            <a:srgbClr val="1B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5" descr="icons/filetex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3336" y="4846320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302752" y="528523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8302752" y="5486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Reporting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8302752" y="583387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findings into a complete internship report and presentation with insights and conclusions.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1118311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21208" y="70408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2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95628" y="1572768"/>
            <a:ext cx="512064" cy="512064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95628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8483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17520" y="182880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01568" y="18288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2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11396" y="1572768"/>
            <a:ext cx="512064" cy="512064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11396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93008" y="208483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733288" y="182880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17336" y="18288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2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27164" y="1572768"/>
            <a:ext cx="512064" cy="512064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27164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08776" y="208483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49056" y="182880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833104" y="18288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2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742932" y="1572768"/>
            <a:ext cx="512064" cy="512064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42932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24544" y="208483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85800" y="38862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2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595628" y="3630168"/>
            <a:ext cx="512064" cy="512064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95628" y="3630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414223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/ 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Report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017520" y="388620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401568" y="38862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2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311396" y="3630168"/>
            <a:ext cx="512064" cy="512064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311396" y="3630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93008" y="414223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733288" y="388620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117336" y="38862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2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027164" y="3630168"/>
            <a:ext cx="512064" cy="512064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27164" y="3630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08776" y="414223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449056" y="3886200"/>
            <a:ext cx="384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8833104" y="38862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2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742932" y="3630168"/>
            <a:ext cx="512064" cy="512064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742932" y="3630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924544" y="414223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9541764" y="320040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85800" y="58064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builds on the output of the previous one — grounding the final Power BI report in a clean, validated, and well-understood dataset.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1292840" y="643737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0">
            <a:extLst>
              <a:ext uri="{FF2B5EF4-FFF2-40B4-BE49-F238E27FC236}">
                <a16:creationId xmlns:a16="http://schemas.microsoft.com/office/drawing/2014/main" id="{21EB8A7E-F93D-10E7-4CCA-2B43AB08F660}"/>
              </a:ext>
            </a:extLst>
          </p:cNvPr>
          <p:cNvSpPr/>
          <p:nvPr/>
        </p:nvSpPr>
        <p:spPr>
          <a:xfrm>
            <a:off x="521208" y="39776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</a:t>
            </a:r>
            <a:endParaRPr lang="en-US" sz="13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Visualizations / Components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14813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TYPE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343400" y="148132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/ WHAT IT SHOWS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956816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credit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48256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87452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43400" y="1874520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key metrics — total financial loss, affected users, and average resolution time.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523744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77240" y="260604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bar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9748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52374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343400" y="2523744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attack types, industries, and sources by frequency, loss, or risk level.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17296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77240" y="325526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pie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34670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17296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343400" y="3172968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proportional distribution of risk levels, attack sources, and industries.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822192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77240" y="3904488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icons/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995928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382219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Maps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343400" y="3822192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proportional financial loss and country-wise incident summaries.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4471416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777240" y="4553712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icons/trending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645152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17320" y="447141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343400" y="4471416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yearly loss trends and resolution-time patterns over time.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548640" y="512064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777240" y="5202936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icons/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294376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417320" y="512064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Visual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4343400" y="5120640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geographic distribution of attacks and losses by country.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48640" y="5769864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777240" y="585216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6" descr="icons/tab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943600"/>
            <a:ext cx="219456" cy="21945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417320" y="576986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/ Table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4343400" y="5769864"/>
            <a:ext cx="7086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Cross-tabulate attack type vs. risk level with interactive drill-down.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1118311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Execution Milestones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executed through 4 structured milestones to ensure systematic progress and accuracy.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123444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87968" y="139903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14996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64040" y="129844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SOURCE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149047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Cybersecurity Threats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(2015–2024) — Kaggle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60120" y="2377440"/>
            <a:ext cx="0" cy="3044952"/>
          </a:xfrm>
          <a:prstGeom prst="line">
            <a:avLst/>
          </a:prstGeom>
          <a:noFill/>
          <a:ln w="25400">
            <a:solidFill>
              <a:srgbClr val="1B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fl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258568"/>
            <a:ext cx="283464" cy="2834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417320" y="2148840"/>
            <a:ext cx="10195560" cy="896112"/>
          </a:xfrm>
          <a:prstGeom prst="roundRect">
            <a:avLst>
              <a:gd name="adj" fmla="val 8163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691640" y="22311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691640" y="2423160"/>
            <a:ext cx="9646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Planning, Data Collection &amp; Preparation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691640" y="2697480"/>
            <a:ext cx="96469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objectives, collected ~3,000 records from Kaggle, and completed initial preprocessing in Power Query.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85800" y="3163824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273552"/>
            <a:ext cx="283464" cy="28346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417320" y="3163824"/>
            <a:ext cx="10195560" cy="896112"/>
          </a:xfrm>
          <a:prstGeom prst="roundRect">
            <a:avLst>
              <a:gd name="adj" fmla="val 8163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1691640" y="32461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691640" y="3438144"/>
            <a:ext cx="9646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 – Phase 1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691640" y="3712464"/>
            <a:ext cx="96469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DAX measures/KPIs and designed the Executive Summary and Attack Type Analysis dashboards.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5800" y="4178808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icons/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288536"/>
            <a:ext cx="283464" cy="28346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417320" y="4178808"/>
            <a:ext cx="10195560" cy="896112"/>
          </a:xfrm>
          <a:prstGeom prst="roundRect">
            <a:avLst>
              <a:gd name="adj" fmla="val 8163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1691640" y="42611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1691640" y="4453128"/>
            <a:ext cx="9646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Completion (Phase 2) &amp; Documentation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691640" y="4727448"/>
            <a:ext cx="96469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Industry Risk Profile, Country Deep Dive, and Vulnerability &amp; Defense dashboards; tested all five.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85800" y="5193792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icons/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5303520"/>
            <a:ext cx="283464" cy="283464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417320" y="5193792"/>
            <a:ext cx="10195560" cy="896112"/>
          </a:xfrm>
          <a:prstGeom prst="roundRect">
            <a:avLst>
              <a:gd name="adj" fmla="val 8163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1691640" y="5276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1691640" y="5468112"/>
            <a:ext cx="9646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Final Submission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1691640" y="5742432"/>
            <a:ext cx="96469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Severity &amp; Financial Impact and Pattern Radar dashboards; validated all seven and finalized documentation.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1118311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and Resolutions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38728" cy="1874520"/>
          </a:xfrm>
          <a:prstGeom prst="roundRect">
            <a:avLst>
              <a:gd name="adj" fmla="val 3902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1728216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alertoctag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288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229514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Inconsistent, Messy Source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" y="269748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had formatting issues, duplicates, and errors that could skew analysis.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3538728" cy="1463040"/>
          </a:xfrm>
          <a:prstGeom prst="roundRect">
            <a:avLst>
              <a:gd name="adj" fmla="val 5000"/>
            </a:avLst>
          </a:prstGeom>
          <a:solidFill>
            <a:srgbClr val="0F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04672" y="3758184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t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85876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758184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04672" y="4270248"/>
            <a:ext cx="30266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through extensive Power Query preprocessing — cleaning, standardizing, and removing duplicate or erroneous records.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306824" y="1508760"/>
            <a:ext cx="3538728" cy="1874520"/>
          </a:xfrm>
          <a:prstGeom prst="roundRect">
            <a:avLst>
              <a:gd name="adj" fmla="val 3902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44568" y="1728216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182880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44568" y="229514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Choosing the Right Visualization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44568" y="269748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cybersecurity metric needed a chart type that stayed clear and readable.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306824" y="3520440"/>
            <a:ext cx="3538728" cy="1463040"/>
          </a:xfrm>
          <a:prstGeom prst="roundRect">
            <a:avLst>
              <a:gd name="adj" fmla="val 5000"/>
            </a:avLst>
          </a:prstGeom>
          <a:solidFill>
            <a:srgbClr val="0F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562856" y="3758184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85876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75504" y="3758184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2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62856" y="4270248"/>
            <a:ext cx="30266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through iterative testing and mentor guidance to match each metric with its clearest visual.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065008" y="1508760"/>
            <a:ext cx="3538728" cy="1874520"/>
          </a:xfrm>
          <a:prstGeom prst="roundRect">
            <a:avLst>
              <a:gd name="adj" fmla="val 3902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302752" y="1728216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icons/z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182880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302752" y="229514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Dashboard Performance &amp; Navigation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302752" y="269748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filters, slicers, and interactive elements strained smooth navigation.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65008" y="3520440"/>
            <a:ext cx="3538728" cy="1463040"/>
          </a:xfrm>
          <a:prstGeom prst="roundRect">
            <a:avLst>
              <a:gd name="adj" fmla="val 5000"/>
            </a:avLst>
          </a:prstGeom>
          <a:solidFill>
            <a:srgbClr val="0F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21040" y="3758184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icons/setting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1624" y="3858768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33688" y="3758184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3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321040" y="4270248"/>
            <a:ext cx="30266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through continuous testing and dashboard optimization for smooth, responsive interaction.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18311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Learnings &amp; Skills Acquired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8562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256946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3000" y="24231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development end-to-end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282696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43000" y="313639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data cleaning &amp; DAX measures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399592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43000" y="384962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slicers, filters, and KPI cards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470916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43000" y="456285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&amp; dashboard design principles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1463040"/>
            <a:ext cx="5376672" cy="2148840"/>
          </a:xfrm>
          <a:prstGeom prst="roundRect">
            <a:avLst>
              <a:gd name="adj" fmla="val 3404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537960" y="169164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1801368"/>
            <a:ext cx="283464" cy="2834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537960" y="2286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537960" y="2697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Communication &amp; presentation skills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537960" y="29992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Teamwork &amp; task collaboration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537960" y="33009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Time management &amp; documentation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263640" y="3794760"/>
            <a:ext cx="5376672" cy="1645920"/>
          </a:xfrm>
          <a:prstGeom prst="roundRect">
            <a:avLst>
              <a:gd name="adj" fmla="val 4444"/>
            </a:avLst>
          </a:prstGeom>
          <a:solidFill>
            <a:srgbClr val="0F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537960" y="4005072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icons/booko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4105656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178040" y="40050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Experience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537960" y="44805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strengthened my analytical thinking and gave me hands-on experience turning raw cybersecurity data into actionable business insights.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118311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709928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544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cybersecurity threat feeds instead of static datasets.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64808" y="1709928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288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5544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machine learning to predict future attacks and detect anomalies automatically.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715768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49808" y="2962656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s/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08152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2807208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threat forecasting, AI-based risk prediction, and automated alert generation.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63640" y="2715768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464808" y="2962656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icons/trendingu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08152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2807208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dashboards via Power BI Service with scheduled data refresh.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4572000"/>
            <a:ext cx="11091672" cy="512064"/>
          </a:xfrm>
          <a:prstGeom prst="roundRect">
            <a:avLst>
              <a:gd name="adj" fmla="val 10714"/>
            </a:avLst>
          </a:prstGeom>
          <a:solidFill>
            <a:srgbClr val="0F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13232" y="4654296"/>
            <a:ext cx="347472" cy="34747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icons/light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4727448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4572000"/>
            <a:ext cx="10241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interactive dashboards together deliver a 360° view of global cybersecurity threats.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8640" y="5193792"/>
            <a:ext cx="11091672" cy="512064"/>
          </a:xfrm>
          <a:prstGeom prst="roundRect">
            <a:avLst>
              <a:gd name="adj" fmla="val 10714"/>
            </a:avLst>
          </a:prstGeom>
          <a:solidFill>
            <a:srgbClr val="0F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713232" y="5276088"/>
            <a:ext cx="347472" cy="34747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icons/light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5349240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34440" y="5193792"/>
            <a:ext cx="10241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loss, resolution time, and affected users vary sharply across industries and attack sources.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548640" y="5815584"/>
            <a:ext cx="11091672" cy="512064"/>
          </a:xfrm>
          <a:prstGeom prst="roundRect">
            <a:avLst>
              <a:gd name="adj" fmla="val 10714"/>
            </a:avLst>
          </a:prstGeom>
          <a:solidFill>
            <a:srgbClr val="0F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713232" y="5897880"/>
            <a:ext cx="347472" cy="34747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6" descr="icons/light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5971032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234440" y="5815584"/>
            <a:ext cx="10241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Country-wise and yearly trends reveal where high-risk incidents concentrate most.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1118311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38528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9164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transforms raw cybersecurity data into meaningful business insights using Microsoft Power BI.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86384" y="3282696"/>
            <a:ext cx="493776" cy="49377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39242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6384" y="3886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/ Technical Impact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86384" y="43434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in data cleaning, DAX modeling, and interactive dashboard design using Power BI.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4306824" y="306324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544568" y="3282696"/>
            <a:ext cx="493776" cy="49377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6" y="33924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44568" y="3886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/ Practical Experience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544568" y="43434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dashboards give organizations a practical way to monitor incidents, spot threats early, and make informed security decisions.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8065008" y="306324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302752" y="3282696"/>
            <a:ext cx="493776" cy="49377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39242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02752" y="3886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Conclusion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302752" y="43434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how data analytics and visualization strengthen cybersecurity management and support proactive threat detection.</a:t>
            </a:r>
            <a:endParaRPr lang="en-US" sz="1080" dirty="0"/>
          </a:p>
        </p:txBody>
      </p:sp>
      <p:sp>
        <p:nvSpPr>
          <p:cNvPr id="23" name="Text 17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18311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 and 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to express my heartfelt gratitude to: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309360" cy="1024128"/>
          </a:xfrm>
          <a:prstGeom prst="roundRect">
            <a:avLst>
              <a:gd name="adj" fmla="val 7143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020824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396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0195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Team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17320" y="2185416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organizing a structured, industry-aligned virtual internship program.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548640" y="2935224"/>
            <a:ext cx="6309360" cy="1024128"/>
          </a:xfrm>
          <a:prstGeom prst="roundRect">
            <a:avLst>
              <a:gd name="adj" fmla="val 7143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9808" y="3172968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user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918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05409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— Mrs. Nithyasri S J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417320" y="333756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consistent guidance, feedback, and encouragement throughout the project.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548640" y="4087368"/>
            <a:ext cx="6309360" cy="1024128"/>
          </a:xfrm>
          <a:prstGeom prst="roundRect">
            <a:avLst>
              <a:gd name="adj" fmla="val 7143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49808" y="4325112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4398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2062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417320" y="4489704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Janani G K, Narayani Kantamreddy, Bindu Kotnala, Nandana N Nair, Gohitha Meghana N — for strong collaboration.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548640" y="5239512"/>
            <a:ext cx="6309360" cy="1024128"/>
          </a:xfrm>
          <a:prstGeom prst="roundRect">
            <a:avLst>
              <a:gd name="adj" fmla="val 7143"/>
            </a:avLst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49808" y="5477256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icons/bo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59612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535838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Community &amp; Kaggle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417320" y="5641848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documentation and the open dataset that made this project possible.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7178040" y="1783080"/>
            <a:ext cx="4462272" cy="4480560"/>
          </a:xfrm>
          <a:prstGeom prst="roundRect">
            <a:avLst>
              <a:gd name="adj" fmla="val 1639"/>
            </a:avLst>
          </a:prstGeom>
          <a:solidFill>
            <a:srgbClr val="0F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7470648" y="1965960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470648" y="2423160"/>
            <a:ext cx="347472" cy="347472"/>
          </a:xfrm>
          <a:prstGeom prst="ellipse">
            <a:avLst/>
          </a:prstGeom>
          <a:solidFill>
            <a:srgbClr val="1B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icons/externall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4" y="250545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955280" y="2368296"/>
            <a:ext cx="34107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Global Cybersecurity Threats (2015–2024) Dataset</a:t>
            </a:r>
            <a:endParaRPr lang="en-US" sz="1030" dirty="0"/>
          </a:p>
        </p:txBody>
      </p:sp>
      <p:sp>
        <p:nvSpPr>
          <p:cNvPr id="30" name="Shape 23"/>
          <p:cNvSpPr/>
          <p:nvPr/>
        </p:nvSpPr>
        <p:spPr>
          <a:xfrm>
            <a:off x="7470648" y="3291840"/>
            <a:ext cx="347472" cy="347472"/>
          </a:xfrm>
          <a:prstGeom prst="ellipse">
            <a:avLst/>
          </a:prstGeom>
          <a:solidFill>
            <a:srgbClr val="1B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icons/externall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4" y="3374136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955280" y="3236976"/>
            <a:ext cx="34107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Documentation (learn.microsoft.com/power-bi)</a:t>
            </a:r>
            <a:endParaRPr lang="en-US" sz="1030" dirty="0"/>
          </a:p>
        </p:txBody>
      </p:sp>
      <p:sp>
        <p:nvSpPr>
          <p:cNvPr id="33" name="Shape 25"/>
          <p:cNvSpPr/>
          <p:nvPr/>
        </p:nvSpPr>
        <p:spPr>
          <a:xfrm>
            <a:off x="7470648" y="4160520"/>
            <a:ext cx="347472" cy="347472"/>
          </a:xfrm>
          <a:prstGeom prst="ellipse">
            <a:avLst/>
          </a:prstGeom>
          <a:solidFill>
            <a:srgbClr val="1B2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6" descr="icons/externall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4" y="4242816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955280" y="4105656"/>
            <a:ext cx="34107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 Program Resources</a:t>
            </a:r>
            <a:endParaRPr lang="en-US" sz="1030" dirty="0"/>
          </a:p>
        </p:txBody>
      </p:sp>
      <p:sp>
        <p:nvSpPr>
          <p:cNvPr id="36" name="Text 27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1118311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389120"/>
            <a:ext cx="4206240" cy="4206240"/>
          </a:xfrm>
          <a:prstGeom prst="ellipse">
            <a:avLst/>
          </a:prstGeom>
          <a:solidFill>
            <a:srgbClr val="132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91556" y="1965960"/>
            <a:ext cx="1005840" cy="10058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s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203704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461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41148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44805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Kumar Soni  ·  Infosys Springboard Virtual Internship 7.0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1185</Words>
  <Application>Microsoft Office PowerPoint</Application>
  <PresentationFormat>Widescreen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Himanshu Soni</cp:lastModifiedBy>
  <cp:revision>2</cp:revision>
  <dcterms:created xsi:type="dcterms:W3CDTF">2026-08-15T07:43:24Z</dcterms:created>
  <dcterms:modified xsi:type="dcterms:W3CDTF">2026-08-15T08:08:45Z</dcterms:modified>
</cp:coreProperties>
</file>