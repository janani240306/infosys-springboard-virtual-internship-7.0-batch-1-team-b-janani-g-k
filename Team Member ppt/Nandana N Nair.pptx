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IBM Plex Mono Bold" panose="020B0604020202020204" charset="0"/>
      <p:regular r:id="rId14"/>
    </p:embeddedFont>
    <p:embeddedFont>
      <p:font typeface="IBM Plex Sans" panose="020B0503050203000203" pitchFamily="34" charset="0"/>
      <p:regular r:id="rId15"/>
    </p:embeddedFont>
    <p:embeddedFont>
      <p:font typeface="IBM Plex San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521">
                <a:alpha val="6196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71450" cy="10287000"/>
            <a:chOff x="0" y="0"/>
            <a:chExt cx="2286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8600" cy="13716000"/>
            </a:xfrm>
            <a:custGeom>
              <a:avLst/>
              <a:gdLst/>
              <a:ahLst/>
              <a:cxnLst/>
              <a:rect l="l" t="t" r="r" b="b"/>
              <a:pathLst>
                <a:path w="228600" h="137160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C7D8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38250" y="2095500"/>
            <a:ext cx="11906250" cy="2968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14"/>
              </a:lnSpc>
            </a:pPr>
            <a:r>
              <a:rPr lang="en-US" sz="57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Cyber Threat Analytics Platform with Incident Visualization System Group 1</a:t>
            </a:r>
          </a:p>
          <a:p>
            <a:pPr algn="l">
              <a:lnSpc>
                <a:spcPts val="5814"/>
              </a:lnSpc>
            </a:pPr>
            <a:endParaRPr lang="en-US" sz="5700" b="1">
              <a:solidFill>
                <a:srgbClr val="FFFFFF"/>
              </a:solidFill>
              <a:latin typeface="IBM Plex Sans Bold"/>
              <a:ea typeface="IBM Plex Sans Bold"/>
              <a:cs typeface="IBM Plex Sans Bold"/>
              <a:sym typeface="IBM Plex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76350" y="5762625"/>
            <a:ext cx="66675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Presented By: Nandana N Nair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6350" y="6438900"/>
            <a:ext cx="8572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 spc="82">
                <a:solidFill>
                  <a:srgbClr val="18C7D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INFOSYS SPRINGBOARD VIRTUAL INTERNSHIP 7.0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6350" y="7019925"/>
            <a:ext cx="66675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C9DBE2"/>
                </a:solidFill>
                <a:latin typeface="IBM Plex Sans"/>
                <a:ea typeface="IBM Plex Sans"/>
                <a:cs typeface="IBM Plex Sans"/>
                <a:sym typeface="IBM Plex Sans"/>
              </a:rPr>
              <a:t>Mentor: Mrs. Nithyasree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52450"/>
            <a:ext cx="16459200" cy="1123950"/>
            <a:chOff x="0" y="0"/>
            <a:chExt cx="21945600" cy="14986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533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62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FRAMEWORK / 01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65150"/>
              <a:ext cx="20320000" cy="756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52"/>
                </a:lnSpc>
              </a:pPr>
              <a:r>
                <a:rPr lang="en-US" sz="405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PROJECT OBJECTIVES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4732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DDDE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914400" y="2133600"/>
            <a:ext cx="7848600" cy="3048000"/>
            <a:chOff x="0" y="0"/>
            <a:chExt cx="10464800" cy="4064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0464800" cy="4064000"/>
              <a:chOff x="0" y="0"/>
              <a:chExt cx="10464800" cy="4064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464800" cy="4064000"/>
              </a:xfrm>
              <a:custGeom>
                <a:avLst/>
                <a:gdLst/>
                <a:ahLst/>
                <a:cxnLst/>
                <a:rect l="l" t="t" r="r" b="b"/>
                <a:pathLst>
                  <a:path w="10464800" h="4064000">
                    <a:moveTo>
                      <a:pt x="0" y="0"/>
                    </a:moveTo>
                    <a:lnTo>
                      <a:pt x="10464800" y="0"/>
                    </a:lnTo>
                    <a:lnTo>
                      <a:pt x="1046480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0464800" cy="410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55600" y="301625"/>
              <a:ext cx="7112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5600" y="796925"/>
              <a:ext cx="9753600" cy="407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210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Data Collection &amp; Analysis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5600" y="1403350"/>
              <a:ext cx="9753600" cy="702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Collect and analyze cybersecurity incident data from multiple countries and industries to understand the nature and impact of cyber attacks.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0" y="2133600"/>
            <a:ext cx="7848600" cy="3048000"/>
            <a:chOff x="0" y="0"/>
            <a:chExt cx="10464800" cy="40640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0464800" cy="4064000"/>
              <a:chOff x="0" y="0"/>
              <a:chExt cx="10464800" cy="4064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0464800" cy="4064000"/>
              </a:xfrm>
              <a:custGeom>
                <a:avLst/>
                <a:gdLst/>
                <a:ahLst/>
                <a:cxnLst/>
                <a:rect l="l" t="t" r="r" b="b"/>
                <a:pathLst>
                  <a:path w="10464800" h="4064000">
                    <a:moveTo>
                      <a:pt x="0" y="0"/>
                    </a:moveTo>
                    <a:lnTo>
                      <a:pt x="10464800" y="0"/>
                    </a:lnTo>
                    <a:lnTo>
                      <a:pt x="1046480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0464800" cy="410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355600" y="301625"/>
              <a:ext cx="7112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5600" y="796925"/>
              <a:ext cx="9753600" cy="407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210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Threat Monitoring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5600" y="1403350"/>
              <a:ext cx="9753600" cy="702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Analyze security incidents and identify suspicious activities, emerging threats, and high-risk incidents.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14400" y="5581650"/>
            <a:ext cx="7848600" cy="3048000"/>
            <a:chOff x="0" y="0"/>
            <a:chExt cx="10464800" cy="40640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10464800" cy="4064000"/>
              <a:chOff x="0" y="0"/>
              <a:chExt cx="10464800" cy="4064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0464800" cy="4064000"/>
              </a:xfrm>
              <a:custGeom>
                <a:avLst/>
                <a:gdLst/>
                <a:ahLst/>
                <a:cxnLst/>
                <a:rect l="l" t="t" r="r" b="b"/>
                <a:pathLst>
                  <a:path w="10464800" h="4064000">
                    <a:moveTo>
                      <a:pt x="0" y="0"/>
                    </a:moveTo>
                    <a:lnTo>
                      <a:pt x="10464800" y="0"/>
                    </a:lnTo>
                    <a:lnTo>
                      <a:pt x="1046480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10464800" cy="410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355600" y="301625"/>
              <a:ext cx="7112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5600" y="796925"/>
              <a:ext cx="9753600" cy="407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210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Trend &amp; Risk Classification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5600" y="1403350"/>
              <a:ext cx="9753600" cy="702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Study attack trends and classify incidents based on attack type, risk level, and severity.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144000" y="5581650"/>
            <a:ext cx="7848600" cy="3048000"/>
            <a:chOff x="0" y="0"/>
            <a:chExt cx="10464800" cy="4064000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10464800" cy="4064000"/>
              <a:chOff x="0" y="0"/>
              <a:chExt cx="10464800" cy="4064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0464800" cy="4064000"/>
              </a:xfrm>
              <a:custGeom>
                <a:avLst/>
                <a:gdLst/>
                <a:ahLst/>
                <a:cxnLst/>
                <a:rect l="l" t="t" r="r" b="b"/>
                <a:pathLst>
                  <a:path w="10464800" h="4064000">
                    <a:moveTo>
                      <a:pt x="0" y="0"/>
                    </a:moveTo>
                    <a:lnTo>
                      <a:pt x="10464800" y="0"/>
                    </a:lnTo>
                    <a:lnTo>
                      <a:pt x="10464800" y="4064000"/>
                    </a:lnTo>
                    <a:lnTo>
                      <a:pt x="0" y="4064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10464800" cy="410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355600" y="301625"/>
              <a:ext cx="7112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5600" y="796925"/>
              <a:ext cx="9753600" cy="407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210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Interactive Dashboards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5600" y="1403350"/>
              <a:ext cx="9753600" cy="702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Develop interactive Power BI dashboards to analyze financial loss, affected users, vulnerabilities, defense mechanisms, and resolution time.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52450"/>
            <a:ext cx="16459200" cy="1123950"/>
            <a:chOff x="0" y="0"/>
            <a:chExt cx="21945600" cy="14986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533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62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FRAMEWORK / 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65150"/>
              <a:ext cx="20320000" cy="756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52"/>
                </a:lnSpc>
              </a:pPr>
              <a:r>
                <a:rPr lang="en-US" sz="405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PROJECT DESCRIPTION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4732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DDDE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sp>
        <p:nvSpPr>
          <p:cNvPr id="8" name="TextBox 8"/>
          <p:cNvSpPr txBox="1"/>
          <p:nvPr/>
        </p:nvSpPr>
        <p:spPr>
          <a:xfrm>
            <a:off x="914400" y="1990725"/>
            <a:ext cx="1645920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102A38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Advanced Threat Incident Analytics and Security Visualization Framework is a Business Intelligence project developed using Microsoft Power BI to analyze global cybersecurity incidents.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4400" y="3352800"/>
            <a:ext cx="5105400" cy="2533650"/>
            <a:chOff x="0" y="0"/>
            <a:chExt cx="6807200" cy="33782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6807200" cy="3378200"/>
              <a:chOff x="0" y="0"/>
              <a:chExt cx="6807200" cy="33782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807200" cy="3378200"/>
              </a:xfrm>
              <a:custGeom>
                <a:avLst/>
                <a:gdLst/>
                <a:ahLst/>
                <a:cxnLst/>
                <a:rect l="l" t="t" r="r" b="b"/>
                <a:pathLst>
                  <a:path w="6807200" h="3378200">
                    <a:moveTo>
                      <a:pt x="0" y="0"/>
                    </a:moveTo>
                    <a:lnTo>
                      <a:pt x="6807200" y="0"/>
                    </a:lnTo>
                    <a:lnTo>
                      <a:pt x="6807200" y="3378200"/>
                    </a:lnTo>
                    <a:lnTo>
                      <a:pt x="0" y="33782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6807200" cy="3416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55600" y="301625"/>
              <a:ext cx="7112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5600" y="796925"/>
              <a:ext cx="6096000" cy="407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210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Module 1: Problem Understanding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5600" y="1403350"/>
              <a:ext cx="6096000" cy="702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Defined the cybersecurity problem, objectives, and scope of the project.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00800" y="3352800"/>
            <a:ext cx="5105400" cy="2533650"/>
            <a:chOff x="0" y="0"/>
            <a:chExt cx="6807200" cy="33782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6807200" cy="3378200"/>
              <a:chOff x="0" y="0"/>
              <a:chExt cx="6807200" cy="33782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807200" cy="3378200"/>
              </a:xfrm>
              <a:custGeom>
                <a:avLst/>
                <a:gdLst/>
                <a:ahLst/>
                <a:cxnLst/>
                <a:rect l="l" t="t" r="r" b="b"/>
                <a:pathLst>
                  <a:path w="6807200" h="3378200">
                    <a:moveTo>
                      <a:pt x="0" y="0"/>
                    </a:moveTo>
                    <a:lnTo>
                      <a:pt x="6807200" y="0"/>
                    </a:lnTo>
                    <a:lnTo>
                      <a:pt x="6807200" y="3378200"/>
                    </a:lnTo>
                    <a:lnTo>
                      <a:pt x="0" y="33782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6807200" cy="3416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55600" y="301625"/>
              <a:ext cx="7112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5600" y="806450"/>
              <a:ext cx="6096000" cy="327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7"/>
                </a:lnSpc>
              </a:pPr>
              <a:r>
                <a:rPr lang="en-US" sz="1725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Module 2: Data Collection &amp; Understanding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5600" y="1403350"/>
              <a:ext cx="6096000" cy="1057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Collected and explored the Global Cybersecurity Threats (2015–2024) dataset containing approximately 3,000 records.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887200" y="3352800"/>
            <a:ext cx="5105400" cy="2533650"/>
            <a:chOff x="0" y="0"/>
            <a:chExt cx="6807200" cy="337820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6807200" cy="3378200"/>
              <a:chOff x="0" y="0"/>
              <a:chExt cx="6807200" cy="33782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807200" cy="3378200"/>
              </a:xfrm>
              <a:custGeom>
                <a:avLst/>
                <a:gdLst/>
                <a:ahLst/>
                <a:cxnLst/>
                <a:rect l="l" t="t" r="r" b="b"/>
                <a:pathLst>
                  <a:path w="6807200" h="3378200">
                    <a:moveTo>
                      <a:pt x="0" y="0"/>
                    </a:moveTo>
                    <a:lnTo>
                      <a:pt x="6807200" y="0"/>
                    </a:lnTo>
                    <a:lnTo>
                      <a:pt x="6807200" y="3378200"/>
                    </a:lnTo>
                    <a:lnTo>
                      <a:pt x="0" y="33782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6807200" cy="3416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55600" y="301625"/>
              <a:ext cx="7112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5600" y="796925"/>
              <a:ext cx="6096000" cy="407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210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Module 3: Data Preprocessing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5600" y="1403350"/>
              <a:ext cx="6096000" cy="702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Cleaned, transformed, standardized, and prepared the dataset using Power Query.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6229350"/>
            <a:ext cx="5105400" cy="2533650"/>
            <a:chOff x="0" y="0"/>
            <a:chExt cx="6807200" cy="337820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6807200" cy="3378200"/>
              <a:chOff x="0" y="0"/>
              <a:chExt cx="6807200" cy="33782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6807200" cy="3378200"/>
              </a:xfrm>
              <a:custGeom>
                <a:avLst/>
                <a:gdLst/>
                <a:ahLst/>
                <a:cxnLst/>
                <a:rect l="l" t="t" r="r" b="b"/>
                <a:pathLst>
                  <a:path w="6807200" h="3378200">
                    <a:moveTo>
                      <a:pt x="0" y="0"/>
                    </a:moveTo>
                    <a:lnTo>
                      <a:pt x="6807200" y="0"/>
                    </a:lnTo>
                    <a:lnTo>
                      <a:pt x="6807200" y="3378200"/>
                    </a:lnTo>
                    <a:lnTo>
                      <a:pt x="0" y="33782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6807200" cy="3416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355600" y="301625"/>
              <a:ext cx="7112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5600" y="796925"/>
              <a:ext cx="6096000" cy="407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210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Module 4: Data Modelling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5600" y="1403350"/>
              <a:ext cx="6096000" cy="702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Created the required data structure, DAX measures, and KPIs for analysis.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400800" y="6229350"/>
            <a:ext cx="5105400" cy="2533650"/>
            <a:chOff x="0" y="0"/>
            <a:chExt cx="6807200" cy="3378200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6807200" cy="3378200"/>
              <a:chOff x="0" y="0"/>
              <a:chExt cx="6807200" cy="33782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6807200" cy="3378200"/>
              </a:xfrm>
              <a:custGeom>
                <a:avLst/>
                <a:gdLst/>
                <a:ahLst/>
                <a:cxnLst/>
                <a:rect l="l" t="t" r="r" b="b"/>
                <a:pathLst>
                  <a:path w="6807200" h="3378200">
                    <a:moveTo>
                      <a:pt x="0" y="0"/>
                    </a:moveTo>
                    <a:lnTo>
                      <a:pt x="6807200" y="0"/>
                    </a:lnTo>
                    <a:lnTo>
                      <a:pt x="6807200" y="3378200"/>
                    </a:lnTo>
                    <a:lnTo>
                      <a:pt x="0" y="33782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6807200" cy="3416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355600" y="301625"/>
              <a:ext cx="7112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5600" y="796925"/>
              <a:ext cx="6096000" cy="407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210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Module 5: Dashboard Development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5600" y="1403350"/>
              <a:ext cx="6096000" cy="1057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Developed interactive dashboards covering attacks, industries, countries, vulnerabilities, defense, severity, financial impact, and patterns.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887200" y="6229350"/>
            <a:ext cx="5105400" cy="2533650"/>
            <a:chOff x="0" y="0"/>
            <a:chExt cx="6807200" cy="3378200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6807200" cy="3378200"/>
              <a:chOff x="0" y="0"/>
              <a:chExt cx="6807200" cy="33782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6807200" cy="3378200"/>
              </a:xfrm>
              <a:custGeom>
                <a:avLst/>
                <a:gdLst/>
                <a:ahLst/>
                <a:cxnLst/>
                <a:rect l="l" t="t" r="r" b="b"/>
                <a:pathLst>
                  <a:path w="6807200" h="3378200">
                    <a:moveTo>
                      <a:pt x="0" y="0"/>
                    </a:moveTo>
                    <a:lnTo>
                      <a:pt x="6807200" y="0"/>
                    </a:lnTo>
                    <a:lnTo>
                      <a:pt x="6807200" y="3378200"/>
                    </a:lnTo>
                    <a:lnTo>
                      <a:pt x="0" y="33782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38100"/>
                <a:ext cx="6807200" cy="3416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355600" y="301625"/>
              <a:ext cx="7112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M6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55600" y="796925"/>
              <a:ext cx="6096000" cy="407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210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Module 6: Insights &amp; Interpretation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55600" y="1403350"/>
              <a:ext cx="6096000" cy="1057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Analyzed the dashboards to identify meaningful cybersecurity patterns and support data-driven decision-making.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52450"/>
            <a:ext cx="16459200" cy="1123950"/>
            <a:chOff x="0" y="0"/>
            <a:chExt cx="21945600" cy="14986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533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62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FRAMEWORK / 03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65150"/>
              <a:ext cx="20320000" cy="756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52"/>
                </a:lnSpc>
              </a:pPr>
              <a:r>
                <a:rPr lang="en-US" sz="40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PROJECT WORKFLOW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4732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18C7D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723900" y="1924050"/>
            <a:ext cx="5067300" cy="2299335"/>
            <a:chOff x="0" y="0"/>
            <a:chExt cx="6756400" cy="306578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6756400" cy="2667000"/>
              <a:chOff x="0" y="0"/>
              <a:chExt cx="6756400" cy="2667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7564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6756400" h="2667000">
                    <a:moveTo>
                      <a:pt x="0" y="0"/>
                    </a:moveTo>
                    <a:lnTo>
                      <a:pt x="6756400" y="0"/>
                    </a:lnTo>
                    <a:lnTo>
                      <a:pt x="67564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0D2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67564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254000" y="200025"/>
              <a:ext cx="6350000" cy="409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1. Problem Understanding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4000" y="787400"/>
              <a:ext cx="6350000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A9C3C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Identified the cybersecurity problem, project objectives, and required analysis.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75000" y="2593975"/>
              <a:ext cx="5080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 rot="-5400000">
            <a:off x="6086160" y="2802254"/>
            <a:ext cx="240030" cy="302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↓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610350" y="1953577"/>
            <a:ext cx="5067300" cy="2000250"/>
            <a:chOff x="0" y="0"/>
            <a:chExt cx="6756400" cy="26670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6756400" cy="2667000"/>
              <a:chOff x="0" y="0"/>
              <a:chExt cx="6756400" cy="2667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7564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6756400" h="2667000">
                    <a:moveTo>
                      <a:pt x="0" y="0"/>
                    </a:moveTo>
                    <a:lnTo>
                      <a:pt x="6756400" y="0"/>
                    </a:lnTo>
                    <a:lnTo>
                      <a:pt x="67564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0D2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67564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254000" y="200025"/>
              <a:ext cx="6350000" cy="409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2. Data Collection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4000" y="787400"/>
              <a:ext cx="6350000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A9C3C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Collected the Global Cybersecurity Threats (2015–2024) dataset from Kaggle.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 rot="-5400000">
            <a:off x="11975782" y="2802254"/>
            <a:ext cx="240030" cy="302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↓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504420" y="1833562"/>
            <a:ext cx="5067300" cy="2000250"/>
            <a:chOff x="0" y="0"/>
            <a:chExt cx="6756400" cy="266700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6756400" cy="2667000"/>
              <a:chOff x="0" y="0"/>
              <a:chExt cx="6756400" cy="2667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7564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6756400" h="2667000">
                    <a:moveTo>
                      <a:pt x="0" y="0"/>
                    </a:moveTo>
                    <a:lnTo>
                      <a:pt x="6756400" y="0"/>
                    </a:lnTo>
                    <a:lnTo>
                      <a:pt x="67564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0D2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67564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254000" y="200025"/>
              <a:ext cx="6350000" cy="409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3. Data Understanding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4000" y="787400"/>
              <a:ext cx="6350000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A9C3C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Examined the dataset structure, attributes, data types, and data quality.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4798040" y="4076700"/>
            <a:ext cx="240030" cy="302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↓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2384405" y="4471035"/>
            <a:ext cx="5067300" cy="2000250"/>
            <a:chOff x="0" y="0"/>
            <a:chExt cx="6756400" cy="266700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6756400" cy="2667000"/>
              <a:chOff x="0" y="0"/>
              <a:chExt cx="6756400" cy="26670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67564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6756400" h="2667000">
                    <a:moveTo>
                      <a:pt x="0" y="0"/>
                    </a:moveTo>
                    <a:lnTo>
                      <a:pt x="6756400" y="0"/>
                    </a:lnTo>
                    <a:lnTo>
                      <a:pt x="67564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0D2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67564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254000" y="200025"/>
              <a:ext cx="6350000" cy="409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4. Data Connection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54000" y="787400"/>
              <a:ext cx="6350000" cy="304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A9C3C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Imported the dataset into Power BI using Power Query.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 rot="5400000">
            <a:off x="11966258" y="5112068"/>
            <a:ext cx="240030" cy="302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↓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6610350" y="4471035"/>
            <a:ext cx="5067300" cy="2000250"/>
            <a:chOff x="0" y="0"/>
            <a:chExt cx="6756400" cy="2667000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6756400" cy="2667000"/>
              <a:chOff x="0" y="0"/>
              <a:chExt cx="6756400" cy="26670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67564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6756400" h="2667000">
                    <a:moveTo>
                      <a:pt x="0" y="0"/>
                    </a:moveTo>
                    <a:lnTo>
                      <a:pt x="6756400" y="0"/>
                    </a:lnTo>
                    <a:lnTo>
                      <a:pt x="67564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0D2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67564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254000" y="200025"/>
              <a:ext cx="6350000" cy="409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5. Data Preprocessing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54000" y="787400"/>
              <a:ext cx="6350000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A9C3C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Removed duplicates, handled inconsistencies, corrected data types, and standardized the data.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16280" y="4471035"/>
            <a:ext cx="5067300" cy="2000250"/>
            <a:chOff x="0" y="0"/>
            <a:chExt cx="6756400" cy="2667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6756400" cy="2667000"/>
              <a:chOff x="0" y="0"/>
              <a:chExt cx="6756400" cy="26670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67564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6756400" h="2667000">
                    <a:moveTo>
                      <a:pt x="0" y="0"/>
                    </a:moveTo>
                    <a:lnTo>
                      <a:pt x="6756400" y="0"/>
                    </a:lnTo>
                    <a:lnTo>
                      <a:pt x="67564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0D2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0" y="-38100"/>
                <a:ext cx="67564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254000" y="200025"/>
              <a:ext cx="6350000" cy="409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6. Data Modelling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54000" y="787400"/>
              <a:ext cx="6350000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A9C3C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Created the required DAX measures and KPIs for analysis.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 rot="5400000">
            <a:off x="6072188" y="5199698"/>
            <a:ext cx="240030" cy="302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↓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017520" y="6728460"/>
            <a:ext cx="240030" cy="302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↓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723900" y="7105650"/>
            <a:ext cx="5067300" cy="2299335"/>
            <a:chOff x="0" y="0"/>
            <a:chExt cx="6756400" cy="3065780"/>
          </a:xfrm>
        </p:grpSpPr>
        <p:grpSp>
          <p:nvGrpSpPr>
            <p:cNvPr id="52" name="Group 52"/>
            <p:cNvGrpSpPr/>
            <p:nvPr/>
          </p:nvGrpSpPr>
          <p:grpSpPr>
            <a:xfrm>
              <a:off x="0" y="0"/>
              <a:ext cx="6756400" cy="2667000"/>
              <a:chOff x="0" y="0"/>
              <a:chExt cx="6756400" cy="26670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67564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6756400" h="2667000">
                    <a:moveTo>
                      <a:pt x="0" y="0"/>
                    </a:moveTo>
                    <a:lnTo>
                      <a:pt x="6756400" y="0"/>
                    </a:lnTo>
                    <a:lnTo>
                      <a:pt x="67564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0D2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-38100"/>
                <a:ext cx="67564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254000" y="200025"/>
              <a:ext cx="6350000" cy="409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7. Data Visualization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54000" y="787400"/>
              <a:ext cx="6350000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A9C3C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Developed seven interactive Power BI dashboards using different visualizations.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175000" y="2593975"/>
              <a:ext cx="5080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7152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↓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610350" y="7031355"/>
            <a:ext cx="5067300" cy="2299335"/>
            <a:chOff x="0" y="0"/>
            <a:chExt cx="6756400" cy="3065780"/>
          </a:xfrm>
        </p:grpSpPr>
        <p:grpSp>
          <p:nvGrpSpPr>
            <p:cNvPr id="59" name="Group 59"/>
            <p:cNvGrpSpPr/>
            <p:nvPr/>
          </p:nvGrpSpPr>
          <p:grpSpPr>
            <a:xfrm>
              <a:off x="0" y="0"/>
              <a:ext cx="6756400" cy="2667000"/>
              <a:chOff x="0" y="0"/>
              <a:chExt cx="6756400" cy="26670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67564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6756400" h="2667000">
                    <a:moveTo>
                      <a:pt x="0" y="0"/>
                    </a:moveTo>
                    <a:lnTo>
                      <a:pt x="6756400" y="0"/>
                    </a:lnTo>
                    <a:lnTo>
                      <a:pt x="67564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0D2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0" y="-38100"/>
                <a:ext cx="67564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62" name="TextBox 62"/>
            <p:cNvSpPr txBox="1"/>
            <p:nvPr/>
          </p:nvSpPr>
          <p:spPr>
            <a:xfrm>
              <a:off x="254000" y="200025"/>
              <a:ext cx="6350000" cy="409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8. Share / Publish Report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54000" y="787400"/>
              <a:ext cx="6350000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500">
                  <a:solidFill>
                    <a:srgbClr val="A9C3C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Shared and published the completed Power BI report and dashboards.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175000" y="2593975"/>
              <a:ext cx="5080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7152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↓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 rot="-5400000">
            <a:off x="6086160" y="7766020"/>
            <a:ext cx="240030" cy="302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52450"/>
            <a:ext cx="16459200" cy="1123950"/>
            <a:chOff x="0" y="0"/>
            <a:chExt cx="21945600" cy="14986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533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62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FRAMEWORK / 04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65150"/>
              <a:ext cx="20320000" cy="756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52"/>
                </a:lnSpc>
              </a:pPr>
              <a:r>
                <a:rPr lang="en-US" sz="405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TOP VISUALIZATIONS / COMPONENTS USED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4732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DDDE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0" y="2133600"/>
            <a:ext cx="4242955" cy="3333750"/>
            <a:chOff x="0" y="0"/>
            <a:chExt cx="5657273" cy="4445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5657273" cy="4445000"/>
              <a:chOff x="0" y="0"/>
              <a:chExt cx="4978400" cy="39116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8400" cy="3911600"/>
              </a:xfrm>
              <a:custGeom>
                <a:avLst/>
                <a:gdLst/>
                <a:ahLst/>
                <a:cxnLst/>
                <a:rect l="l" t="t" r="r" b="b"/>
                <a:pathLst>
                  <a:path w="4978400" h="3911600">
                    <a:moveTo>
                      <a:pt x="0" y="0"/>
                    </a:moveTo>
                    <a:lnTo>
                      <a:pt x="4978400" y="0"/>
                    </a:lnTo>
                    <a:lnTo>
                      <a:pt x="4978400" y="3911600"/>
                    </a:lnTo>
                    <a:lnTo>
                      <a:pt x="0" y="3911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8400" cy="394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04091" y="346652"/>
              <a:ext cx="808182" cy="3749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86"/>
                </a:lnSpc>
              </a:pPr>
              <a:r>
                <a:rPr lang="en-US" sz="1704" b="1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V1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4091" y="913823"/>
              <a:ext cx="4849091" cy="4543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2386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KPI Cards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4091" y="1606839"/>
              <a:ext cx="4849091" cy="15941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Display important summary measures such as financial loss, affected users, resolution time, and incident counts.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901045" y="2133600"/>
            <a:ext cx="4242955" cy="3333750"/>
            <a:chOff x="0" y="0"/>
            <a:chExt cx="5657273" cy="44450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5657273" cy="4445000"/>
              <a:chOff x="0" y="0"/>
              <a:chExt cx="4978400" cy="3911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978400" cy="3911600"/>
              </a:xfrm>
              <a:custGeom>
                <a:avLst/>
                <a:gdLst/>
                <a:ahLst/>
                <a:cxnLst/>
                <a:rect l="l" t="t" r="r" b="b"/>
                <a:pathLst>
                  <a:path w="4978400" h="3911600">
                    <a:moveTo>
                      <a:pt x="0" y="0"/>
                    </a:moveTo>
                    <a:lnTo>
                      <a:pt x="4978400" y="0"/>
                    </a:lnTo>
                    <a:lnTo>
                      <a:pt x="4978400" y="3911600"/>
                    </a:lnTo>
                    <a:lnTo>
                      <a:pt x="0" y="3911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4978400" cy="394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404091" y="346652"/>
              <a:ext cx="808182" cy="3749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86"/>
                </a:lnSpc>
              </a:pPr>
              <a:r>
                <a:rPr lang="en-US" sz="1704" b="1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V2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4091" y="913823"/>
              <a:ext cx="4849091" cy="4543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4"/>
                </a:lnSpc>
              </a:pPr>
              <a:r>
                <a:rPr lang="en-US" sz="2386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Bar Charts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4091" y="1606839"/>
              <a:ext cx="4849091" cy="11900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4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Compare attack types, industries, vulnerabilities, and high-risk incidents.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801225" y="2133600"/>
            <a:ext cx="4242955" cy="3333750"/>
            <a:chOff x="0" y="0"/>
            <a:chExt cx="5657273" cy="44450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5657273" cy="4445000"/>
              <a:chOff x="0" y="0"/>
              <a:chExt cx="4978400" cy="39116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4978400" cy="3911600"/>
              </a:xfrm>
              <a:custGeom>
                <a:avLst/>
                <a:gdLst/>
                <a:ahLst/>
                <a:cxnLst/>
                <a:rect l="l" t="t" r="r" b="b"/>
                <a:pathLst>
                  <a:path w="4978400" h="3911600">
                    <a:moveTo>
                      <a:pt x="0" y="0"/>
                    </a:moveTo>
                    <a:lnTo>
                      <a:pt x="4978400" y="0"/>
                    </a:lnTo>
                    <a:lnTo>
                      <a:pt x="4978400" y="3911600"/>
                    </a:lnTo>
                    <a:lnTo>
                      <a:pt x="0" y="3911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4978400" cy="394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404091" y="346652"/>
              <a:ext cx="808182" cy="3749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86"/>
                </a:lnSpc>
              </a:pPr>
              <a:r>
                <a:rPr lang="en-US" sz="1704" b="1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V3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4091" y="913823"/>
              <a:ext cx="4849091" cy="4543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4"/>
                </a:lnSpc>
              </a:pPr>
              <a:r>
                <a:rPr lang="en-US" sz="2386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Line Charts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4091" y="1606839"/>
              <a:ext cx="4849091" cy="11900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4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Show trends in attacks, financial loss, and resolution time over time.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4701405" y="2133600"/>
            <a:ext cx="4242955" cy="3333750"/>
            <a:chOff x="0" y="0"/>
            <a:chExt cx="5657273" cy="4445000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5657273" cy="4445000"/>
              <a:chOff x="0" y="0"/>
              <a:chExt cx="4978400" cy="39116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4978400" cy="3911600"/>
              </a:xfrm>
              <a:custGeom>
                <a:avLst/>
                <a:gdLst/>
                <a:ahLst/>
                <a:cxnLst/>
                <a:rect l="l" t="t" r="r" b="b"/>
                <a:pathLst>
                  <a:path w="4978400" h="3911600">
                    <a:moveTo>
                      <a:pt x="0" y="0"/>
                    </a:moveTo>
                    <a:lnTo>
                      <a:pt x="4978400" y="0"/>
                    </a:lnTo>
                    <a:lnTo>
                      <a:pt x="4978400" y="3911600"/>
                    </a:lnTo>
                    <a:lnTo>
                      <a:pt x="0" y="3911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4978400" cy="394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404091" y="346652"/>
              <a:ext cx="808182" cy="3749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86"/>
                </a:lnSpc>
              </a:pPr>
              <a:r>
                <a:rPr lang="en-US" sz="1704" b="1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V4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4091" y="913823"/>
              <a:ext cx="4849091" cy="4543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4"/>
                </a:lnSpc>
              </a:pPr>
              <a:r>
                <a:rPr lang="en-US" sz="2386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Donut Charts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4091" y="1606839"/>
              <a:ext cx="4849091" cy="785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4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Display the distribution of risk levels and defense mechanisms.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0" y="6354863"/>
            <a:ext cx="4379250" cy="3440840"/>
            <a:chOff x="0" y="0"/>
            <a:chExt cx="5839001" cy="4587786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5839001" cy="4587786"/>
              <a:chOff x="0" y="0"/>
              <a:chExt cx="4978400" cy="39116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4978400" cy="3911600"/>
              </a:xfrm>
              <a:custGeom>
                <a:avLst/>
                <a:gdLst/>
                <a:ahLst/>
                <a:cxnLst/>
                <a:rect l="l" t="t" r="r" b="b"/>
                <a:pathLst>
                  <a:path w="4978400" h="3911600">
                    <a:moveTo>
                      <a:pt x="0" y="0"/>
                    </a:moveTo>
                    <a:lnTo>
                      <a:pt x="4978400" y="0"/>
                    </a:lnTo>
                    <a:lnTo>
                      <a:pt x="4978400" y="3911600"/>
                    </a:lnTo>
                    <a:lnTo>
                      <a:pt x="0" y="3911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4978400" cy="394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417071" y="358706"/>
              <a:ext cx="834143" cy="386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63"/>
                </a:lnSpc>
              </a:pPr>
              <a:r>
                <a:rPr lang="en-US" sz="1759" b="1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V5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17071" y="942565"/>
              <a:ext cx="5004858" cy="4695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9"/>
                </a:lnSpc>
              </a:pPr>
              <a:r>
                <a:rPr lang="en-US" sz="2463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Treemaps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17071" y="1649236"/>
              <a:ext cx="5004858" cy="12374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5"/>
                </a:lnSpc>
              </a:pPr>
              <a:r>
                <a:rPr lang="en-US" sz="1935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Compare financial loss and incident impact across categories.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901045" y="6301318"/>
            <a:ext cx="4379250" cy="3440840"/>
            <a:chOff x="0" y="0"/>
            <a:chExt cx="5839001" cy="4587786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5839001" cy="4587786"/>
              <a:chOff x="0" y="0"/>
              <a:chExt cx="4978400" cy="39116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4978400" cy="3911600"/>
              </a:xfrm>
              <a:custGeom>
                <a:avLst/>
                <a:gdLst/>
                <a:ahLst/>
                <a:cxnLst/>
                <a:rect l="l" t="t" r="r" b="b"/>
                <a:pathLst>
                  <a:path w="4978400" h="3911600">
                    <a:moveTo>
                      <a:pt x="0" y="0"/>
                    </a:moveTo>
                    <a:lnTo>
                      <a:pt x="4978400" y="0"/>
                    </a:lnTo>
                    <a:lnTo>
                      <a:pt x="4978400" y="3911600"/>
                    </a:lnTo>
                    <a:lnTo>
                      <a:pt x="0" y="3911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0" y="-38100"/>
                <a:ext cx="4978400" cy="394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endParaRPr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417071" y="375091"/>
              <a:ext cx="834143" cy="386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63"/>
                </a:lnSpc>
              </a:pPr>
              <a:r>
                <a:rPr lang="en-US" sz="1759" b="1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V6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17071" y="958950"/>
              <a:ext cx="5004858" cy="4695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9"/>
                </a:lnSpc>
              </a:pPr>
              <a:r>
                <a:rPr lang="en-US" sz="2463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Maps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17071" y="1665621"/>
              <a:ext cx="5004858" cy="12374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15"/>
                </a:lnSpc>
              </a:pPr>
              <a:r>
                <a:rPr lang="en-US" sz="1935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Show the geographical distribution of attacks and affected users.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801225" y="6354863"/>
            <a:ext cx="4242955" cy="3333750"/>
            <a:chOff x="0" y="0"/>
            <a:chExt cx="5657273" cy="4445000"/>
          </a:xfrm>
        </p:grpSpPr>
        <p:grpSp>
          <p:nvGrpSpPr>
            <p:cNvPr id="51" name="Group 51"/>
            <p:cNvGrpSpPr/>
            <p:nvPr/>
          </p:nvGrpSpPr>
          <p:grpSpPr>
            <a:xfrm>
              <a:off x="0" y="0"/>
              <a:ext cx="5657273" cy="4445000"/>
              <a:chOff x="0" y="0"/>
              <a:chExt cx="4978400" cy="39116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4978400" cy="3911600"/>
              </a:xfrm>
              <a:custGeom>
                <a:avLst/>
                <a:gdLst/>
                <a:ahLst/>
                <a:cxnLst/>
                <a:rect l="l" t="t" r="r" b="b"/>
                <a:pathLst>
                  <a:path w="4978400" h="3911600">
                    <a:moveTo>
                      <a:pt x="0" y="0"/>
                    </a:moveTo>
                    <a:lnTo>
                      <a:pt x="4978400" y="0"/>
                    </a:lnTo>
                    <a:lnTo>
                      <a:pt x="4978400" y="3911600"/>
                    </a:lnTo>
                    <a:lnTo>
                      <a:pt x="0" y="3911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0" y="-38100"/>
                <a:ext cx="4978400" cy="394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endParaRPr/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404091" y="346652"/>
              <a:ext cx="808182" cy="3749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86"/>
                </a:lnSpc>
              </a:pPr>
              <a:r>
                <a:rPr lang="en-US" sz="1704" b="1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V7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04091" y="913823"/>
              <a:ext cx="4849091" cy="4543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4"/>
                </a:lnSpc>
              </a:pPr>
              <a:r>
                <a:rPr lang="en-US" sz="2386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Slicers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04091" y="1606839"/>
              <a:ext cx="4849091" cy="11900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4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Allow interactive filtering based on year, country, attack source, and risk level.</a:t>
              </a:r>
            </a:p>
          </p:txBody>
        </p:sp>
      </p:grpSp>
      <p:sp>
        <p:nvSpPr>
          <p:cNvPr id="57" name="Freeform 57"/>
          <p:cNvSpPr/>
          <p:nvPr/>
        </p:nvSpPr>
        <p:spPr>
          <a:xfrm>
            <a:off x="11291331" y="4479487"/>
            <a:ext cx="964939" cy="844322"/>
          </a:xfrm>
          <a:custGeom>
            <a:avLst/>
            <a:gdLst/>
            <a:ahLst/>
            <a:cxnLst/>
            <a:rect l="l" t="t" r="r" b="b"/>
            <a:pathLst>
              <a:path w="964939" h="844322">
                <a:moveTo>
                  <a:pt x="0" y="0"/>
                </a:moveTo>
                <a:lnTo>
                  <a:pt x="964939" y="0"/>
                </a:lnTo>
                <a:lnTo>
                  <a:pt x="964939" y="844322"/>
                </a:lnTo>
                <a:lnTo>
                  <a:pt x="0" y="844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>
            <a:off x="15623814" y="4124741"/>
            <a:ext cx="1199068" cy="1199068"/>
          </a:xfrm>
          <a:custGeom>
            <a:avLst/>
            <a:gdLst/>
            <a:ahLst/>
            <a:cxnLst/>
            <a:rect l="l" t="t" r="r" b="b"/>
            <a:pathLst>
              <a:path w="1199068" h="1199068">
                <a:moveTo>
                  <a:pt x="0" y="0"/>
                </a:moveTo>
                <a:lnTo>
                  <a:pt x="1199068" y="0"/>
                </a:lnTo>
                <a:lnTo>
                  <a:pt x="1199068" y="1199068"/>
                </a:lnTo>
                <a:lnTo>
                  <a:pt x="0" y="11990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9" name="Freeform 59"/>
          <p:cNvSpPr/>
          <p:nvPr/>
        </p:nvSpPr>
        <p:spPr>
          <a:xfrm>
            <a:off x="6483830" y="4274030"/>
            <a:ext cx="869470" cy="869470"/>
          </a:xfrm>
          <a:custGeom>
            <a:avLst/>
            <a:gdLst/>
            <a:ahLst/>
            <a:cxnLst/>
            <a:rect l="l" t="t" r="r" b="b"/>
            <a:pathLst>
              <a:path w="869470" h="869470">
                <a:moveTo>
                  <a:pt x="0" y="0"/>
                </a:moveTo>
                <a:lnTo>
                  <a:pt x="869470" y="0"/>
                </a:lnTo>
                <a:lnTo>
                  <a:pt x="869470" y="869470"/>
                </a:lnTo>
                <a:lnTo>
                  <a:pt x="0" y="8694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0" name="Freeform 60"/>
          <p:cNvSpPr/>
          <p:nvPr/>
        </p:nvSpPr>
        <p:spPr>
          <a:xfrm>
            <a:off x="1511274" y="8668586"/>
            <a:ext cx="678352" cy="651218"/>
          </a:xfrm>
          <a:custGeom>
            <a:avLst/>
            <a:gdLst/>
            <a:ahLst/>
            <a:cxnLst/>
            <a:rect l="l" t="t" r="r" b="b"/>
            <a:pathLst>
              <a:path w="678352" h="651218">
                <a:moveTo>
                  <a:pt x="0" y="0"/>
                </a:moveTo>
                <a:lnTo>
                  <a:pt x="678351" y="0"/>
                </a:lnTo>
                <a:lnTo>
                  <a:pt x="678351" y="651218"/>
                </a:lnTo>
                <a:lnTo>
                  <a:pt x="0" y="6512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1" name="Freeform 61"/>
          <p:cNvSpPr/>
          <p:nvPr/>
        </p:nvSpPr>
        <p:spPr>
          <a:xfrm>
            <a:off x="1245721" y="4676511"/>
            <a:ext cx="875756" cy="647298"/>
          </a:xfrm>
          <a:custGeom>
            <a:avLst/>
            <a:gdLst/>
            <a:ahLst/>
            <a:cxnLst/>
            <a:rect l="l" t="t" r="r" b="b"/>
            <a:pathLst>
              <a:path w="875756" h="647298">
                <a:moveTo>
                  <a:pt x="0" y="0"/>
                </a:moveTo>
                <a:lnTo>
                  <a:pt x="875756" y="0"/>
                </a:lnTo>
                <a:lnTo>
                  <a:pt x="875756" y="647298"/>
                </a:lnTo>
                <a:lnTo>
                  <a:pt x="0" y="6472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62" name="Freeform 62"/>
          <p:cNvSpPr/>
          <p:nvPr/>
        </p:nvSpPr>
        <p:spPr>
          <a:xfrm>
            <a:off x="6344342" y="8592238"/>
            <a:ext cx="574224" cy="803913"/>
          </a:xfrm>
          <a:custGeom>
            <a:avLst/>
            <a:gdLst/>
            <a:ahLst/>
            <a:cxnLst/>
            <a:rect l="l" t="t" r="r" b="b"/>
            <a:pathLst>
              <a:path w="574224" h="803913">
                <a:moveTo>
                  <a:pt x="0" y="0"/>
                </a:moveTo>
                <a:lnTo>
                  <a:pt x="574223" y="0"/>
                </a:lnTo>
                <a:lnTo>
                  <a:pt x="574223" y="803913"/>
                </a:lnTo>
                <a:lnTo>
                  <a:pt x="0" y="8039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63" name="Freeform 63"/>
          <p:cNvSpPr/>
          <p:nvPr/>
        </p:nvSpPr>
        <p:spPr>
          <a:xfrm>
            <a:off x="11169310" y="8668586"/>
            <a:ext cx="753392" cy="853844"/>
          </a:xfrm>
          <a:custGeom>
            <a:avLst/>
            <a:gdLst/>
            <a:ahLst/>
            <a:cxnLst/>
            <a:rect l="l" t="t" r="r" b="b"/>
            <a:pathLst>
              <a:path w="753392" h="853844">
                <a:moveTo>
                  <a:pt x="0" y="0"/>
                </a:moveTo>
                <a:lnTo>
                  <a:pt x="753392" y="0"/>
                </a:lnTo>
                <a:lnTo>
                  <a:pt x="753392" y="853844"/>
                </a:lnTo>
                <a:lnTo>
                  <a:pt x="0" y="8538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52450"/>
            <a:ext cx="16459200" cy="1123950"/>
            <a:chOff x="0" y="0"/>
            <a:chExt cx="21945600" cy="14986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533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62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FRAMEWORK / 05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65150"/>
              <a:ext cx="20320000" cy="756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52"/>
                </a:lnSpc>
              </a:pPr>
              <a:r>
                <a:rPr lang="en-US" sz="405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PROJECT EXECUTION MILESTONES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4732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DDDE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685800" y="1905000"/>
            <a:ext cx="16459200" cy="1286985"/>
            <a:chOff x="0" y="0"/>
            <a:chExt cx="21945600" cy="171598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1945600" cy="1715980"/>
              <a:chOff x="0" y="0"/>
              <a:chExt cx="21945600" cy="171598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1945600" cy="171598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171598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1715980"/>
                    </a:lnTo>
                    <a:lnTo>
                      <a:pt x="0" y="171598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21945600" cy="175408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96188" y="693525"/>
              <a:ext cx="5080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62">
                  <a:solidFill>
                    <a:srgbClr val="2878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Dataset / Source Used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6188" y="955780"/>
              <a:ext cx="15240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Global Cybersecurity Threats (2015–2024) – Kaggle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00" y="3352800"/>
            <a:ext cx="7848600" cy="2724150"/>
            <a:chOff x="0" y="0"/>
            <a:chExt cx="10464800" cy="36322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0464800" cy="3632200"/>
              <a:chOff x="0" y="0"/>
              <a:chExt cx="10464800" cy="36322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0464800" cy="3632200"/>
              </a:xfrm>
              <a:custGeom>
                <a:avLst/>
                <a:gdLst/>
                <a:ahLst/>
                <a:cxnLst/>
                <a:rect l="l" t="t" r="r" b="b"/>
                <a:pathLst>
                  <a:path w="10464800" h="3632200">
                    <a:moveTo>
                      <a:pt x="0" y="0"/>
                    </a:moveTo>
                    <a:lnTo>
                      <a:pt x="10464800" y="0"/>
                    </a:lnTo>
                    <a:lnTo>
                      <a:pt x="10464800" y="3632200"/>
                    </a:lnTo>
                    <a:lnTo>
                      <a:pt x="0" y="36322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0464800" cy="3670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55600" y="301625"/>
              <a:ext cx="7112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5600" y="806450"/>
              <a:ext cx="9753600" cy="369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95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Milestone 1 – Project Planning, Data Collection &amp; Preparation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5600" y="1403350"/>
              <a:ext cx="9753600" cy="702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Finalized project objectives, collected the cybersecurity dataset, and performed data cleaning and preprocessing using Power Query.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144000" y="3352800"/>
            <a:ext cx="7848600" cy="2724150"/>
            <a:chOff x="0" y="0"/>
            <a:chExt cx="10464800" cy="36322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10464800" cy="3632200"/>
              <a:chOff x="0" y="0"/>
              <a:chExt cx="10464800" cy="36322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0464800" cy="3632200"/>
              </a:xfrm>
              <a:custGeom>
                <a:avLst/>
                <a:gdLst/>
                <a:ahLst/>
                <a:cxnLst/>
                <a:rect l="l" t="t" r="r" b="b"/>
                <a:pathLst>
                  <a:path w="10464800" h="3632200">
                    <a:moveTo>
                      <a:pt x="0" y="0"/>
                    </a:moveTo>
                    <a:lnTo>
                      <a:pt x="10464800" y="0"/>
                    </a:lnTo>
                    <a:lnTo>
                      <a:pt x="10464800" y="3632200"/>
                    </a:lnTo>
                    <a:lnTo>
                      <a:pt x="0" y="36322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0464800" cy="3670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355600" y="301625"/>
              <a:ext cx="7112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5600" y="796925"/>
              <a:ext cx="9753600" cy="4070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210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Milestone 2 – Dashboard Development – Phase 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5600" y="1403350"/>
              <a:ext cx="9753600" cy="702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Created DAX measures and KPIs and developed the initial cybersecurity dashboards.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6457950"/>
            <a:ext cx="7848600" cy="2724150"/>
            <a:chOff x="0" y="0"/>
            <a:chExt cx="10464800" cy="363220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10464800" cy="3632200"/>
              <a:chOff x="0" y="0"/>
              <a:chExt cx="10464800" cy="36322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0464800" cy="3632200"/>
              </a:xfrm>
              <a:custGeom>
                <a:avLst/>
                <a:gdLst/>
                <a:ahLst/>
                <a:cxnLst/>
                <a:rect l="l" t="t" r="r" b="b"/>
                <a:pathLst>
                  <a:path w="10464800" h="3632200">
                    <a:moveTo>
                      <a:pt x="0" y="0"/>
                    </a:moveTo>
                    <a:lnTo>
                      <a:pt x="10464800" y="0"/>
                    </a:lnTo>
                    <a:lnTo>
                      <a:pt x="10464800" y="3632200"/>
                    </a:lnTo>
                    <a:lnTo>
                      <a:pt x="0" y="36322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10464800" cy="3670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55600" y="301625"/>
              <a:ext cx="7112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5600" y="806450"/>
              <a:ext cx="9753600" cy="3416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80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Milestone 3 – Dashboard Development – Phase 2 &amp; Documentation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5600" y="1403350"/>
              <a:ext cx="9753600" cy="702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Developed additional dashboards focusing on industry risk, country analysis, and vulnerabilities and defense.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144000" y="6457950"/>
            <a:ext cx="7848600" cy="2724150"/>
            <a:chOff x="0" y="0"/>
            <a:chExt cx="10464800" cy="3632200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10464800" cy="3632200"/>
              <a:chOff x="0" y="0"/>
              <a:chExt cx="10464800" cy="36322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0464800" cy="3632200"/>
              </a:xfrm>
              <a:custGeom>
                <a:avLst/>
                <a:gdLst/>
                <a:ahLst/>
                <a:cxnLst/>
                <a:rect l="l" t="t" r="r" b="b"/>
                <a:pathLst>
                  <a:path w="10464800" h="3632200">
                    <a:moveTo>
                      <a:pt x="0" y="0"/>
                    </a:moveTo>
                    <a:lnTo>
                      <a:pt x="10464800" y="0"/>
                    </a:lnTo>
                    <a:lnTo>
                      <a:pt x="10464800" y="3632200"/>
                    </a:lnTo>
                    <a:lnTo>
                      <a:pt x="0" y="36322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10464800" cy="3670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355600" y="301625"/>
              <a:ext cx="7112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5600" y="806450"/>
              <a:ext cx="9753600" cy="327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97"/>
                </a:lnSpc>
              </a:pPr>
              <a:r>
                <a:rPr lang="en-US" sz="1725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Milestone 4 – Advanced Dashboard Development &amp; Final Submission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5600" y="1403350"/>
              <a:ext cx="9753600" cy="702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Developed the Severity &amp; Financial Impact and Pattern Radar dashboards, validated the dashboards, and completed the final project submission.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028700" y="1914525"/>
            <a:ext cx="16459200" cy="302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Project was executed through four structured milestones to ensure systematic progress and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52450"/>
            <a:ext cx="16459200" cy="1123950"/>
            <a:chOff x="0" y="0"/>
            <a:chExt cx="21945600" cy="14986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533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62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FRAMEWORK / 06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65150"/>
              <a:ext cx="20320000" cy="756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52"/>
                </a:lnSpc>
              </a:pPr>
              <a:r>
                <a:rPr lang="en-US" sz="40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CHALLENGES FACED AND RESOLUTIONS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4732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18C7D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685800" y="1905000"/>
            <a:ext cx="16649700" cy="2133600"/>
            <a:chOff x="0" y="0"/>
            <a:chExt cx="22199600" cy="28448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1945600" cy="2844800"/>
              <a:chOff x="0" y="0"/>
              <a:chExt cx="21945600" cy="2844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1945600" cy="28448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8448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844800"/>
                    </a:lnTo>
                    <a:lnTo>
                      <a:pt x="0" y="2844800"/>
                    </a:lnTo>
                    <a:close/>
                  </a:path>
                </a:pathLst>
              </a:custGeom>
              <a:solidFill>
                <a:srgbClr val="0D2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21945600" cy="2882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04800" y="231775"/>
              <a:ext cx="5715000" cy="44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1. Data Cleaning &amp; Consistency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78600" y="260350"/>
              <a:ext cx="7112000" cy="1057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B8CDD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Challenge: The raw cybersecurity dataset contained inconsistencies that needed to be addressed before analysis.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452600" y="260350"/>
              <a:ext cx="7747000" cy="702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Resolution: Used Power Query to clean the data, remove duplicates, correct data types, and standardize values.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800" y="4457700"/>
            <a:ext cx="16649700" cy="2133600"/>
            <a:chOff x="0" y="0"/>
            <a:chExt cx="22199600" cy="28448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21945600" cy="2844800"/>
              <a:chOff x="0" y="0"/>
              <a:chExt cx="21945600" cy="2844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1945600" cy="28448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8448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844800"/>
                    </a:lnTo>
                    <a:lnTo>
                      <a:pt x="0" y="2844800"/>
                    </a:lnTo>
                    <a:close/>
                  </a:path>
                </a:pathLst>
              </a:custGeom>
              <a:solidFill>
                <a:srgbClr val="0D2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21945600" cy="2882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304800" y="241300"/>
              <a:ext cx="5715000" cy="429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2. Selecting Relevant Visualizations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78600" y="260350"/>
              <a:ext cx="7112000" cy="1057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B8CDD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Challenge: Choosing suitable visualizations for different cybersecurity metrics while keeping the dashboards clear.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452600" y="260350"/>
              <a:ext cx="7747000" cy="1413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Resolution: Selected visual types according to the purpose of each analysis, such as bar charts for comparisons, line charts for trends, maps for geographical analysis, and KPI cards for summary values.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85800" y="7010400"/>
            <a:ext cx="16649700" cy="2133600"/>
            <a:chOff x="0" y="0"/>
            <a:chExt cx="22199600" cy="28448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21945600" cy="2844800"/>
              <a:chOff x="0" y="0"/>
              <a:chExt cx="21945600" cy="2844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1945600" cy="28448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8448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844800"/>
                    </a:lnTo>
                    <a:lnTo>
                      <a:pt x="0" y="2844800"/>
                    </a:lnTo>
                    <a:close/>
                  </a:path>
                </a:pathLst>
              </a:custGeom>
              <a:solidFill>
                <a:srgbClr val="0D2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21945600" cy="2882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304800" y="241300"/>
              <a:ext cx="5715000" cy="429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3. Dashboard Design &amp; Interactivity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78600" y="260350"/>
              <a:ext cx="7112000" cy="702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B8CDD5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Challenge: Presenting a large amount of information while keeping dashboards clear and interactive.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452600" y="260350"/>
              <a:ext cx="7747000" cy="1057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5"/>
                </a:lnSpc>
              </a:pPr>
              <a:r>
                <a:rPr lang="en-US" sz="165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Resolution: Organized the analysis across multiple dashboards and used slicers, filters, and appropriate visual layouts to improve usability.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52450"/>
            <a:ext cx="16459200" cy="1123950"/>
            <a:chOff x="0" y="0"/>
            <a:chExt cx="21945600" cy="14986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533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62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FRAMEWORK / 07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65150"/>
              <a:ext cx="20320000" cy="756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52"/>
                </a:lnSpc>
              </a:pPr>
              <a:r>
                <a:rPr lang="en-US" sz="405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LEARNINGS &amp; SKILLS ACQUIRED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4732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DDDE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914400" y="2000250"/>
            <a:ext cx="7620000" cy="4953000"/>
            <a:chOff x="0" y="0"/>
            <a:chExt cx="10160000" cy="6604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0160000" cy="6604000"/>
              <a:chOff x="0" y="0"/>
              <a:chExt cx="10160000" cy="6604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160000" cy="6604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0" h="6604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0160000" cy="664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558800" y="292100"/>
              <a:ext cx="8890000" cy="548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Technical Skills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8800" y="1095375"/>
              <a:ext cx="8890000" cy="2841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US" sz="1875">
                  <a:solidFill>
                    <a:srgbClr val="102A3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Microsoft Power BI</a:t>
              </a:r>
            </a:p>
            <a:p>
              <a:pPr algn="l">
                <a:lnSpc>
                  <a:spcPts val="2850"/>
                </a:lnSpc>
              </a:pPr>
              <a:r>
                <a:rPr lang="en-US" sz="1875">
                  <a:solidFill>
                    <a:srgbClr val="102A3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Power Query</a:t>
              </a:r>
            </a:p>
            <a:p>
              <a:pPr algn="l">
                <a:lnSpc>
                  <a:spcPts val="2850"/>
                </a:lnSpc>
              </a:pPr>
              <a:r>
                <a:rPr lang="en-US" sz="1875">
                  <a:solidFill>
                    <a:srgbClr val="102A3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Data Cleaning &amp; Transformation</a:t>
              </a:r>
            </a:p>
            <a:p>
              <a:pPr algn="l">
                <a:lnSpc>
                  <a:spcPts val="2850"/>
                </a:lnSpc>
              </a:pPr>
              <a:r>
                <a:rPr lang="en-US" sz="1875">
                  <a:solidFill>
                    <a:srgbClr val="102A3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DAX Measures &amp; KPIs</a:t>
              </a:r>
            </a:p>
            <a:p>
              <a:pPr algn="l">
                <a:lnSpc>
                  <a:spcPts val="2850"/>
                </a:lnSpc>
              </a:pPr>
              <a:r>
                <a:rPr lang="en-US" sz="1875">
                  <a:solidFill>
                    <a:srgbClr val="102A3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Interactive Dashboard Development</a:t>
              </a:r>
            </a:p>
            <a:p>
              <a:pPr algn="l">
                <a:lnSpc>
                  <a:spcPts val="2850"/>
                </a:lnSpc>
              </a:pPr>
              <a:r>
                <a:rPr lang="en-US" sz="1875">
                  <a:solidFill>
                    <a:srgbClr val="102A3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Data Visualization &amp; Analysis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53600" y="2000250"/>
            <a:ext cx="7620000" cy="4953000"/>
            <a:chOff x="0" y="0"/>
            <a:chExt cx="10160000" cy="6604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0160000" cy="6604000"/>
              <a:chOff x="0" y="0"/>
              <a:chExt cx="10160000" cy="6604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0160000" cy="6604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0" h="6604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0160000" cy="664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711200" y="292100"/>
              <a:ext cx="8255000" cy="548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Soft Skills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1200" y="1095375"/>
              <a:ext cx="8255000" cy="2841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US" sz="1875">
                  <a:solidFill>
                    <a:srgbClr val="102A3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Analytical Thinking</a:t>
              </a:r>
            </a:p>
            <a:p>
              <a:pPr algn="l">
                <a:lnSpc>
                  <a:spcPts val="2850"/>
                </a:lnSpc>
              </a:pPr>
              <a:r>
                <a:rPr lang="en-US" sz="1875">
                  <a:solidFill>
                    <a:srgbClr val="102A3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Problem-Solving</a:t>
              </a:r>
            </a:p>
            <a:p>
              <a:pPr algn="l">
                <a:lnSpc>
                  <a:spcPts val="2850"/>
                </a:lnSpc>
              </a:pPr>
              <a:r>
                <a:rPr lang="en-US" sz="1875">
                  <a:solidFill>
                    <a:srgbClr val="102A3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Team Collaboration</a:t>
              </a:r>
            </a:p>
            <a:p>
              <a:pPr algn="l">
                <a:lnSpc>
                  <a:spcPts val="2850"/>
                </a:lnSpc>
              </a:pPr>
              <a:r>
                <a:rPr lang="en-US" sz="1875">
                  <a:solidFill>
                    <a:srgbClr val="102A3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Communication Skills</a:t>
              </a:r>
            </a:p>
            <a:p>
              <a:pPr algn="l">
                <a:lnSpc>
                  <a:spcPts val="2850"/>
                </a:lnSpc>
              </a:pPr>
              <a:r>
                <a:rPr lang="en-US" sz="1875">
                  <a:solidFill>
                    <a:srgbClr val="102A3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Presentation Skills</a:t>
              </a:r>
            </a:p>
            <a:p>
              <a:pPr algn="l">
                <a:lnSpc>
                  <a:spcPts val="2850"/>
                </a:lnSpc>
              </a:pPr>
              <a:r>
                <a:rPr lang="en-US" sz="1875">
                  <a:solidFill>
                    <a:srgbClr val="102A3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Time Management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4400" y="7334250"/>
            <a:ext cx="16459200" cy="2000250"/>
            <a:chOff x="0" y="0"/>
            <a:chExt cx="21945600" cy="26670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21945600" cy="2667000"/>
              <a:chOff x="0" y="0"/>
              <a:chExt cx="21945600" cy="2667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219456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6670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DCEFF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219456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558800" y="250825"/>
              <a:ext cx="5080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62">
                  <a:solidFill>
                    <a:srgbClr val="2878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Overall Learning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8800" y="752475"/>
              <a:ext cx="20193000" cy="809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en-US" sz="1875">
                  <a:solidFill>
                    <a:srgbClr val="102A3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Gained practical experience in transforming raw cybersecurity data into meaningful visual insights and applying data analytics concepts to an industry-oriented project.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52450"/>
            <a:ext cx="16459200" cy="1123950"/>
            <a:chOff x="0" y="0"/>
            <a:chExt cx="21945600" cy="14986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533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62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FRAMEWORK / 08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65150"/>
              <a:ext cx="20320000" cy="756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52"/>
                </a:lnSpc>
              </a:pPr>
              <a:r>
                <a:rPr lang="en-US" sz="405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FUTURE ENHANCEMENTS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4732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DDDE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914400" y="2000250"/>
            <a:ext cx="7620000" cy="6667500"/>
            <a:chOff x="0" y="0"/>
            <a:chExt cx="10160000" cy="8890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0160000" cy="8890000"/>
              <a:chOff x="0" y="0"/>
              <a:chExt cx="10160000" cy="8890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160000" cy="8890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0" h="889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8890000"/>
                    </a:lnTo>
                    <a:lnTo>
                      <a:pt x="0" y="8890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0160000" cy="892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685800" y="333375"/>
              <a:ext cx="8890000" cy="624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285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Future Enhancements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5800" y="1339850"/>
              <a:ext cx="8890000" cy="3324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102A3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Integrate real-time cybersecurity threat data instead of static datasets.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102A3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Implement machine learning techniques for threat prediction and anomaly detection.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102A3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Add automated alerts and AI-based risk prediction.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102A3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Publish dashboards through Power BI Service with scheduled data refresh.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53600" y="2000250"/>
            <a:ext cx="7620000" cy="6667500"/>
            <a:chOff x="0" y="0"/>
            <a:chExt cx="10160000" cy="8890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0160000" cy="8890000"/>
              <a:chOff x="0" y="0"/>
              <a:chExt cx="10160000" cy="889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0160000" cy="8890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0" h="889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8890000"/>
                    </a:lnTo>
                    <a:lnTo>
                      <a:pt x="0" y="8890000"/>
                    </a:lnTo>
                    <a:close/>
                  </a:path>
                </a:pathLst>
              </a:custGeom>
              <a:solidFill>
                <a:srgbClr val="0D2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0160000" cy="892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711200" y="333375"/>
              <a:ext cx="8255000" cy="624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28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Key Insights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1200" y="1339850"/>
              <a:ext cx="8255000" cy="2359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Cybersecurity risks vary across industries and countries.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Financial loss, affected users, and attack patterns provide important indicators of incident impact.</a:t>
              </a: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Interactive visualization makes complex cybersecurity information easier to analyze and understand.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521">
                <a:alpha val="7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552450"/>
            <a:ext cx="16459200" cy="1123950"/>
            <a:chOff x="0" y="0"/>
            <a:chExt cx="21945600" cy="1498600"/>
          </a:xfrm>
        </p:grpSpPr>
        <p:sp>
          <p:nvSpPr>
            <p:cNvPr id="7" name="TextBox 7"/>
            <p:cNvSpPr txBox="1"/>
            <p:nvPr/>
          </p:nvSpPr>
          <p:spPr>
            <a:xfrm>
              <a:off x="0" y="-28575"/>
              <a:ext cx="533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62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FRAMEWORK / 09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565150"/>
              <a:ext cx="20320000" cy="756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52"/>
                </a:lnSpc>
              </a:pPr>
              <a:r>
                <a:rPr lang="en-US" sz="40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CONCLUSION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0" y="1473200"/>
              <a:ext cx="21945600" cy="25400"/>
              <a:chOff x="0" y="0"/>
              <a:chExt cx="21945600" cy="254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18C7D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914400" y="2286000"/>
            <a:ext cx="11430000" cy="4673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1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Cyber Threat Analytics Platform with Incident Visualization System successfully transforms raw cybersecurity data into seven interactive Power BI dashboards.</a:t>
            </a:r>
          </a:p>
          <a:p>
            <a:pPr algn="l">
              <a:lnSpc>
                <a:spcPts val="3088"/>
              </a:lnSpc>
            </a:pPr>
            <a:endParaRPr lang="en-US" sz="2175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3088"/>
              </a:lnSpc>
            </a:pPr>
            <a:r>
              <a:rPr lang="en-US" sz="21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project provided practical experience in data cleaning, Power Query, data modelling, DAX, data visualization, and dashboard development.</a:t>
            </a:r>
          </a:p>
          <a:p>
            <a:pPr algn="l">
              <a:lnSpc>
                <a:spcPts val="3088"/>
              </a:lnSpc>
            </a:pPr>
            <a:endParaRPr lang="en-US" sz="2175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3088"/>
              </a:lnSpc>
            </a:pPr>
            <a:r>
              <a:rPr lang="en-US" sz="21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dashboards helped analyze cyber attacks, risk levels, vulnerabilities, defense mechanisms, financial losses, affected users, and resolution time.</a:t>
            </a:r>
          </a:p>
          <a:p>
            <a:pPr algn="l">
              <a:lnSpc>
                <a:spcPts val="3088"/>
              </a:lnSpc>
            </a:pPr>
            <a:endParaRPr lang="en-US" sz="2175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algn="l">
              <a:lnSpc>
                <a:spcPts val="3088"/>
              </a:lnSpc>
            </a:pPr>
            <a:r>
              <a:rPr lang="en-US" sz="21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Overall, the project demonstrates how Business Intelligence and data visualization can transform cybersecurity data into meaningful insights and support better security monitoring and decision-making.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049250" y="2381250"/>
            <a:ext cx="76200" cy="5715000"/>
            <a:chOff x="0" y="0"/>
            <a:chExt cx="101600" cy="762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1600" cy="7620000"/>
            </a:xfrm>
            <a:custGeom>
              <a:avLst/>
              <a:gdLst/>
              <a:ahLst/>
              <a:cxnLst/>
              <a:rect l="l" t="t" r="r" b="b"/>
              <a:pathLst>
                <a:path w="101600" h="7620000">
                  <a:moveTo>
                    <a:pt x="0" y="0"/>
                  </a:moveTo>
                  <a:lnTo>
                    <a:pt x="101600" y="0"/>
                  </a:lnTo>
                  <a:lnTo>
                    <a:pt x="101600" y="7620000"/>
                  </a:lnTo>
                  <a:lnTo>
                    <a:pt x="0" y="7620000"/>
                  </a:lnTo>
                  <a:close/>
                </a:path>
              </a:pathLst>
            </a:custGeom>
            <a:solidFill>
              <a:srgbClr val="18C7D8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01600" cy="765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52450"/>
            <a:ext cx="16459200" cy="1123950"/>
            <a:chOff x="0" y="0"/>
            <a:chExt cx="21945600" cy="14986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28575"/>
              <a:ext cx="5334000" cy="300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b="1" spc="162">
                  <a:solidFill>
                    <a:srgbClr val="18C7D8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FRAMEWORK / 10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65150"/>
              <a:ext cx="20320000" cy="756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52"/>
                </a:lnSpc>
              </a:pPr>
              <a:r>
                <a:rPr lang="en-US" sz="405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ACKNOWLEDGEMENTS AND REFERENCES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473200"/>
              <a:ext cx="21945600" cy="25400"/>
              <a:chOff x="0" y="0"/>
              <a:chExt cx="21945600" cy="25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9456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1945600" h="254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DDDE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945600" cy="63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914400" y="1905000"/>
            <a:ext cx="8382000" cy="8763000"/>
            <a:chOff x="0" y="0"/>
            <a:chExt cx="11176000" cy="11684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1176000" cy="11684000"/>
              <a:chOff x="0" y="0"/>
              <a:chExt cx="11176000" cy="11684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1176000" cy="11684000"/>
              </a:xfrm>
              <a:custGeom>
                <a:avLst/>
                <a:gdLst/>
                <a:ahLst/>
                <a:cxnLst/>
                <a:rect l="l" t="t" r="r" b="b"/>
                <a:pathLst>
                  <a:path w="11176000" h="11684000">
                    <a:moveTo>
                      <a:pt x="0" y="0"/>
                    </a:moveTo>
                    <a:lnTo>
                      <a:pt x="11176000" y="0"/>
                    </a:lnTo>
                    <a:lnTo>
                      <a:pt x="11176000" y="11684000"/>
                    </a:lnTo>
                    <a:lnTo>
                      <a:pt x="0" y="11684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1176000" cy="1172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31800" y="215900"/>
              <a:ext cx="10414000" cy="548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102A38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Acknowledgements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1800" y="1006475"/>
              <a:ext cx="10414000" cy="62619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16"/>
                </a:lnSpc>
              </a:pPr>
              <a:r>
                <a:rPr lang="en-US" sz="1575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 would like to express my sincere gratitude to:</a:t>
              </a:r>
            </a:p>
            <a:p>
              <a:pPr algn="l">
                <a:lnSpc>
                  <a:spcPts val="2016"/>
                </a:lnSpc>
              </a:pPr>
              <a:endParaRPr lang="en-US" sz="1575">
                <a:solidFill>
                  <a:srgbClr val="54707D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algn="l">
                <a:lnSpc>
                  <a:spcPts val="2016"/>
                </a:lnSpc>
              </a:pPr>
              <a:r>
                <a:rPr lang="en-US" sz="1575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Infosys Springboard Team</a:t>
              </a:r>
            </a:p>
            <a:p>
              <a:pPr algn="l">
                <a:lnSpc>
                  <a:spcPts val="2016"/>
                </a:lnSpc>
              </a:pPr>
              <a:r>
                <a:rPr lang="en-US" sz="1575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For providing the opportunity to participate in the Virtual Internship 7.0.</a:t>
              </a:r>
            </a:p>
            <a:p>
              <a:pPr algn="l">
                <a:lnSpc>
                  <a:spcPts val="2016"/>
                </a:lnSpc>
              </a:pPr>
              <a:endParaRPr lang="en-US" sz="1575">
                <a:solidFill>
                  <a:srgbClr val="54707D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algn="l">
                <a:lnSpc>
                  <a:spcPts val="2016"/>
                </a:lnSpc>
              </a:pPr>
              <a:r>
                <a:rPr lang="en-US" sz="1575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Mentor – Mrs. Nithyasree</a:t>
              </a:r>
            </a:p>
            <a:p>
              <a:pPr algn="l">
                <a:lnSpc>
                  <a:spcPts val="2016"/>
                </a:lnSpc>
              </a:pPr>
              <a:r>
                <a:rPr lang="en-US" sz="1575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For providing valuable guidance, feedback, and encouragement throughout the project.</a:t>
              </a:r>
            </a:p>
            <a:p>
              <a:pPr algn="l">
                <a:lnSpc>
                  <a:spcPts val="2016"/>
                </a:lnSpc>
              </a:pPr>
              <a:endParaRPr lang="en-US" sz="1575">
                <a:solidFill>
                  <a:srgbClr val="54707D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algn="l">
                <a:lnSpc>
                  <a:spcPts val="2016"/>
                </a:lnSpc>
              </a:pPr>
              <a:r>
                <a:rPr lang="en-US" sz="1575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Team Members</a:t>
              </a:r>
            </a:p>
            <a:p>
              <a:pPr marL="340042" lvl="1" indent="-170021" algn="l">
                <a:lnSpc>
                  <a:spcPts val="2016"/>
                </a:lnSpc>
                <a:buFont typeface="Arial"/>
                <a:buChar char="•"/>
              </a:pPr>
              <a:r>
                <a:rPr lang="en-US" sz="1575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Himanshu Kumar Soni</a:t>
              </a:r>
            </a:p>
            <a:p>
              <a:pPr marL="340042" lvl="1" indent="-170021" algn="l">
                <a:lnSpc>
                  <a:spcPts val="2016"/>
                </a:lnSpc>
                <a:buFont typeface="Arial"/>
                <a:buChar char="•"/>
              </a:pPr>
              <a:r>
                <a:rPr lang="en-US" sz="1575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Janani G K</a:t>
              </a:r>
            </a:p>
            <a:p>
              <a:pPr marL="340042" lvl="1" indent="-170021" algn="l">
                <a:lnSpc>
                  <a:spcPts val="2016"/>
                </a:lnSpc>
                <a:buFont typeface="Arial"/>
                <a:buChar char="•"/>
              </a:pPr>
              <a:r>
                <a:rPr lang="en-US" sz="1575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Kantamreddy Narayani</a:t>
              </a:r>
            </a:p>
            <a:p>
              <a:pPr marL="340042" lvl="1" indent="-170021" algn="l">
                <a:lnSpc>
                  <a:spcPts val="2016"/>
                </a:lnSpc>
                <a:buFont typeface="Arial"/>
                <a:buChar char="•"/>
              </a:pPr>
              <a:r>
                <a:rPr lang="en-US" sz="1575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K Kotnala Bindu</a:t>
              </a:r>
            </a:p>
            <a:p>
              <a:pPr marL="340042" lvl="1" indent="-170021" algn="l">
                <a:lnSpc>
                  <a:spcPts val="2016"/>
                </a:lnSpc>
                <a:buFont typeface="Arial"/>
                <a:buChar char="•"/>
              </a:pPr>
              <a:r>
                <a:rPr lang="en-US" sz="1575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Nagalla Gohitha Meghana</a:t>
              </a:r>
            </a:p>
            <a:p>
              <a:pPr algn="l">
                <a:lnSpc>
                  <a:spcPts val="2016"/>
                </a:lnSpc>
              </a:pPr>
              <a:endParaRPr lang="en-US" sz="1575">
                <a:solidFill>
                  <a:srgbClr val="54707D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algn="l">
                <a:lnSpc>
                  <a:spcPts val="2016"/>
                </a:lnSpc>
              </a:pPr>
              <a:endParaRPr lang="en-US" sz="1575">
                <a:solidFill>
                  <a:srgbClr val="54707D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algn="l">
                <a:lnSpc>
                  <a:spcPts val="2016"/>
                </a:lnSpc>
              </a:pPr>
              <a:r>
                <a:rPr lang="en-US" sz="1575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Kaggle &amp; Power BI Community</a:t>
              </a:r>
            </a:p>
            <a:p>
              <a:pPr algn="l">
                <a:lnSpc>
                  <a:spcPts val="2016"/>
                </a:lnSpc>
              </a:pPr>
              <a:r>
                <a:rPr lang="en-US" sz="1575">
                  <a:solidFill>
                    <a:srgbClr val="54707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For providing useful resources, dataset access, and documentation that supported the project.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53600" y="1905000"/>
            <a:ext cx="7620000" cy="7524750"/>
            <a:chOff x="0" y="0"/>
            <a:chExt cx="10160000" cy="10033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0160000" cy="10033000"/>
              <a:chOff x="0" y="0"/>
              <a:chExt cx="10160000" cy="10033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0160000" cy="10033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0" h="10033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10033000"/>
                    </a:lnTo>
                    <a:lnTo>
                      <a:pt x="0" y="10033000"/>
                    </a:lnTo>
                    <a:close/>
                  </a:path>
                </a:pathLst>
              </a:custGeom>
              <a:solidFill>
                <a:srgbClr val="0D2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0160000" cy="1007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711200" y="215900"/>
              <a:ext cx="8255000" cy="548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References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1200" y="1212850"/>
              <a:ext cx="8255000" cy="38068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Kaggle – Global Cybersecurity Threats (2015–2024) Dataset</a:t>
              </a:r>
            </a:p>
            <a:p>
              <a:pPr algn="l">
                <a:lnSpc>
                  <a:spcPts val="2906"/>
                </a:lnSpc>
              </a:pPr>
              <a:endParaRPr lang="en-US" sz="18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Microsoft Power BI Documentation &amp; Community Resources</a:t>
              </a:r>
            </a:p>
            <a:p>
              <a:pPr algn="l">
                <a:lnSpc>
                  <a:spcPts val="2906"/>
                </a:lnSpc>
              </a:pPr>
              <a:endParaRPr lang="en-US" sz="18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algn="l">
                <a:lnSpc>
                  <a:spcPts val="2906"/>
                </a:lnSpc>
              </a:pPr>
              <a:r>
                <a:rPr lang="en-US" sz="187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Infosys Springboard – Virtual Internship 7.0 Program Materials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521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429000" y="1971675"/>
            <a:ext cx="11430000" cy="470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1" spc="162">
                <a:solidFill>
                  <a:srgbClr val="18C7D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Cyber Threat Analytics Platform with Incident Visualization System Group 1</a:t>
            </a:r>
          </a:p>
          <a:p>
            <a:pPr algn="ctr">
              <a:lnSpc>
                <a:spcPts val="1889"/>
              </a:lnSpc>
            </a:pPr>
            <a:endParaRPr lang="en-US" sz="1350" b="1" spc="162">
              <a:solidFill>
                <a:srgbClr val="18C7D8"/>
              </a:solidFill>
              <a:latin typeface="IBM Plex Mono Bold"/>
              <a:ea typeface="IBM Plex Mono Bold"/>
              <a:cs typeface="IBM Plex Mono Bold"/>
              <a:sym typeface="IBM Plex Mon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476500" y="2990850"/>
            <a:ext cx="13335000" cy="1424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60"/>
              </a:lnSpc>
            </a:pPr>
            <a:r>
              <a:rPr lang="en-US" sz="84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Thank You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239000" y="6191250"/>
            <a:ext cx="3810000" cy="28575"/>
            <a:chOff x="0" y="0"/>
            <a:chExt cx="5080000" cy="38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80000" cy="38100"/>
            </a:xfrm>
            <a:custGeom>
              <a:avLst/>
              <a:gdLst/>
              <a:ahLst/>
              <a:cxnLst/>
              <a:rect l="l" t="t" r="r" b="b"/>
              <a:pathLst>
                <a:path w="5080000" h="38100">
                  <a:moveTo>
                    <a:pt x="0" y="0"/>
                  </a:moveTo>
                  <a:lnTo>
                    <a:pt x="5080000" y="0"/>
                  </a:lnTo>
                  <a:lnTo>
                    <a:pt x="508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8C7D8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080000" cy="76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1206</Words>
  <Application>Microsoft Office PowerPoint</Application>
  <PresentationFormat>Custom</PresentationFormat>
  <Paragraphs>184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IBM Plex Sans</vt:lpstr>
      <vt:lpstr>Calibri</vt:lpstr>
      <vt:lpstr>Arial</vt:lpstr>
      <vt:lpstr>IBM Plex Mono Bold</vt:lpstr>
      <vt:lpstr>IBM Plex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Threat Analytics Platform with Incident Visualization System Group 1</dc:title>
  <dc:creator>ASUS</dc:creator>
  <cp:lastModifiedBy>Nandana N Nair</cp:lastModifiedBy>
  <cp:revision>1</cp:revision>
  <dcterms:created xsi:type="dcterms:W3CDTF">2006-08-16T00:00:00Z</dcterms:created>
  <dcterms:modified xsi:type="dcterms:W3CDTF">2026-08-16T07:57:24Z</dcterms:modified>
  <dc:identifier>DAHSb6iO2GI</dc:identifier>
</cp:coreProperties>
</file>