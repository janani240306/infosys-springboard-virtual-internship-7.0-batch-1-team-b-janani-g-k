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072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217920" cy="6217920"/>
          </a:xfrm>
          <a:prstGeom prst="ellipse">
            <a:avLst/>
          </a:prstGeom>
          <a:solidFill>
            <a:srgbClr val="13203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480560"/>
            <a:ext cx="5120640" cy="5120640"/>
          </a:xfrm>
          <a:prstGeom prst="ellipse">
            <a:avLst/>
          </a:prstGeom>
          <a:solidFill>
            <a:srgbClr val="1B2C4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777240"/>
            <a:ext cx="1005840" cy="1005840"/>
          </a:xfrm>
          <a:prstGeom prst="roundRect">
            <a:avLst>
              <a:gd name="adj" fmla="val 22000"/>
            </a:avLst>
          </a:prstGeom>
          <a:solidFill>
            <a:srgbClr val="132038"/>
          </a:solidFill>
          <a:ln/>
        </p:spPr>
      </p:sp>
      <p:pic>
        <p:nvPicPr>
          <p:cNvPr id="5" name="Image 0" descr="/home/claude/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018642"/>
            <a:ext cx="523037" cy="52303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92928" y="777240"/>
            <a:ext cx="1005840" cy="1005840"/>
          </a:xfrm>
          <a:prstGeom prst="roundRect">
            <a:avLst>
              <a:gd name="adj" fmla="val 21818"/>
            </a:avLst>
          </a:prstGeom>
          <a:ln w="19050">
            <a:solidFill>
              <a:srgbClr val="1FC8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0116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 ·   TEAM B   ·   INFOSYS SPRINGBOARD VIRTUAL INTERNSHIP 7.0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42316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11091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INCIDENT VISUALIZATION SYSTEM – GROUP 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Cybersecurity Analytics Project  |  Group Project Presentation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90008" y="4297680"/>
            <a:ext cx="2011680" cy="0"/>
          </a:xfrm>
          <a:prstGeom prst="line">
            <a:avLst/>
          </a:prstGeom>
          <a:noFill/>
          <a:ln w="19050">
            <a:solidFill>
              <a:srgbClr val="1FC8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52628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480974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Narayani Kantamreddy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914400" y="548640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Nithyasri S J</a:t>
            </a:r>
            <a:r>
              <a:rPr lang="en-US" sz="13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|      </a:t>
            </a:r>
            <a:r>
              <a:rPr lang="en-US" sz="1300" b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59893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Global Cybersecurity Threats (2015–2024)   ·   Tool: Microsoft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9AA9C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17373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7" name="Image 0" descr="/home/claude/proj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15" y="187342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7667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8952" y="241401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CYBERSECURITY INCIDENTS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" y="2852928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cybersecurity threat incidents and understand their impact across industries and organizations worldwide.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1481328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9AA9C2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73952" y="173736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3" name="Image 1" descr="/home/claude/proj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15" y="187342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09167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473952" y="2414016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QUALITY DATA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73952" y="2852928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the Global Cybersecurity Threats dataset and clean and preprocess it for meaningful analysis using Power BI.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02920" y="3886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9AA9C2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41422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9" name="Image 2" descr="/home/claude/proj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15" y="4278295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7667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58952" y="4818888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THREATS &amp; PATTERNS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58952" y="5257800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attack trends, financial losses, affected users, vulnerabilities, risk levels, and incident-resolution performance.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7920" y="3886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blurRad="114300" dist="38100" dir="5400000" algn="bl" rotWithShape="0">
              <a:srgbClr val="9AA9C2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73952" y="41422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25" name="Image 3" descr="/home/claude/proj/icons/lay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015" y="4278295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09167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C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6473952" y="4818888"/>
            <a:ext cx="4928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DASHBOARDS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73952" y="5257800"/>
            <a:ext cx="4928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processed cybersecurity data into interactive Power BI dashboards that support data-driven security decisions.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71600"/>
            <a:ext cx="11183112" cy="896112"/>
          </a:xfrm>
          <a:prstGeom prst="roundRect">
            <a:avLst>
              <a:gd name="adj" fmla="val 8163"/>
            </a:avLst>
          </a:prstGeom>
          <a:solidFill>
            <a:srgbClr val="0B142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Cyber Threat Analytics Platform with Incident Visualization System is a cybersecurity analytics solution developed using Microsoft Power BI. It transforms raw cybersecurity incident data into interactive dashboards analyzing attack trends, financial impact, affected users, industry risks, country-wise incidents, vulnerabilities, defense mechanisms, and incident resolution performance.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6334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9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74320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615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Problem Understanding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088" y="3200400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cybersecurity analysis requirements and identified key focus areas: attacks, industries, financial loss, and vulnerabilities.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88536" y="245059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9704" y="26334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14" name="Image 1" descr="/home/claude/proj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74320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065776" y="2615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Data Collection &amp; Understanding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489704" y="3200400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examined the Global Cybersecurity Threats (2015–2024) dataset sourced from Kaggle.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074152" y="2450592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75320" y="26334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19" name="Image 2" descr="/home/claude/proj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74320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51392" y="26151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Data Preprocessing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275320" y="3200400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Editor to clean, standardize, filter, and transform the raw dataset into an analysis-ready form.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02920" y="4261104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4088" y="4443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24" name="Image 3" descr="/home/claude/proj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55371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425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Data Modeling &amp; DAX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04088" y="5010912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the cleaned data model and created DAX measures and KPIs to support analysis and reporting.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288536" y="4261104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489704" y="4443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29" name="Image 4" descr="/home/claude/proj/icons/bar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432" y="4553712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065776" y="4425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Dashboard Development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489704" y="5010912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interactive dashboards using KPI cards, charts, maps, matrices, treemaps, and slicers.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8074152" y="4261104"/>
            <a:ext cx="361188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275320" y="444398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34" name="Image 5" descr="/home/claude/proj/icons/sha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4553712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851392" y="442569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Insights &amp; Reporting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8275320" y="5010912"/>
            <a:ext cx="32095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cybersecurity patterns and presented meaningful, decision-ready insights through Power BI dashboards.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process converts raw cybersecurity data into meaningful, decision-ready insights.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039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8" name="Image 0" descr="/home/claude/proj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20574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7512" y="2532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47288" y="1874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2039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1" descr="/home/claude/proj/icons/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20574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532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91656" y="1874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56248" y="2039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7" name="Text 13"/>
          <p:cNvSpPr/>
          <p:nvPr/>
        </p:nvSpPr>
        <p:spPr>
          <a:xfrm>
            <a:off x="655624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8" name="Image 2" descr="/home/claude/proj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20574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56248" y="2532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336024" y="1874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0616" y="2039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22" name="Text 17"/>
          <p:cNvSpPr/>
          <p:nvPr/>
        </p:nvSpPr>
        <p:spPr>
          <a:xfrm>
            <a:off x="950061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23" name="Image 3" descr="/home/claude/proj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205740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0616" y="2532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2935224" y="2432304"/>
            <a:ext cx="457200" cy="256032"/>
          </a:xfrm>
          <a:prstGeom prst="rightArrow">
            <a:avLst/>
          </a:prstGeom>
          <a:solidFill>
            <a:srgbClr val="1FC8D8"/>
          </a:solidFill>
          <a:ln/>
        </p:spPr>
      </p:sp>
      <p:sp>
        <p:nvSpPr>
          <p:cNvPr id="26" name="Shape 20"/>
          <p:cNvSpPr/>
          <p:nvPr/>
        </p:nvSpPr>
        <p:spPr>
          <a:xfrm>
            <a:off x="5879592" y="2432304"/>
            <a:ext cx="457200" cy="256032"/>
          </a:xfrm>
          <a:prstGeom prst="rightArrow">
            <a:avLst/>
          </a:prstGeom>
          <a:solidFill>
            <a:srgbClr val="1FC8D8"/>
          </a:solidFill>
          <a:ln/>
        </p:spPr>
      </p:sp>
      <p:sp>
        <p:nvSpPr>
          <p:cNvPr id="27" name="Shape 21"/>
          <p:cNvSpPr/>
          <p:nvPr/>
        </p:nvSpPr>
        <p:spPr>
          <a:xfrm>
            <a:off x="8823960" y="2432304"/>
            <a:ext cx="457200" cy="256032"/>
          </a:xfrm>
          <a:prstGeom prst="rightArrow">
            <a:avLst/>
          </a:prstGeom>
          <a:solidFill>
            <a:srgbClr val="1FC8D8"/>
          </a:solidFill>
          <a:ln/>
        </p:spPr>
      </p:sp>
      <p:sp>
        <p:nvSpPr>
          <p:cNvPr id="28" name="Shape 22"/>
          <p:cNvSpPr/>
          <p:nvPr/>
        </p:nvSpPr>
        <p:spPr>
          <a:xfrm>
            <a:off x="10396728" y="3300984"/>
            <a:ext cx="256032" cy="804672"/>
          </a:xfrm>
          <a:prstGeom prst="downArrow">
            <a:avLst/>
          </a:prstGeom>
          <a:solidFill>
            <a:srgbClr val="1FC8D8"/>
          </a:solidFill>
          <a:ln/>
        </p:spPr>
      </p:sp>
      <p:sp>
        <p:nvSpPr>
          <p:cNvPr id="29" name="Shape 23"/>
          <p:cNvSpPr/>
          <p:nvPr/>
        </p:nvSpPr>
        <p:spPr>
          <a:xfrm>
            <a:off x="9336024" y="4160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500616" y="4325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31" name="Text 25"/>
          <p:cNvSpPr/>
          <p:nvPr/>
        </p:nvSpPr>
        <p:spPr>
          <a:xfrm>
            <a:off x="9500616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32" name="Image 4" descr="/home/claude/proj/icons/filt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1672" y="434340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00616" y="4818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6391656" y="4160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556248" y="4325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36" name="Text 29"/>
          <p:cNvSpPr/>
          <p:nvPr/>
        </p:nvSpPr>
        <p:spPr>
          <a:xfrm>
            <a:off x="655624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37" name="Image 5" descr="/home/claude/proj/icons/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304" y="4343400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556248" y="4818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3447288" y="4160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3611880" y="4325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41" name="Text 33"/>
          <p:cNvSpPr/>
          <p:nvPr/>
        </p:nvSpPr>
        <p:spPr>
          <a:xfrm>
            <a:off x="361188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pic>
        <p:nvPicPr>
          <p:cNvPr id="42" name="Image 6" descr="/home/claude/proj/icons/bar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2936" y="4343400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611880" y="4818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502920" y="4160520"/>
            <a:ext cx="2377440" cy="1371600"/>
          </a:xfrm>
          <a:prstGeom prst="roundRect">
            <a:avLst>
              <a:gd name="adj" fmla="val 6000"/>
            </a:avLst>
          </a:prstGeom>
          <a:solidFill>
            <a:srgbClr val="132038"/>
          </a:solidFill>
          <a:ln w="15875">
            <a:solidFill>
              <a:srgbClr val="1B2C4A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67512" y="4325112"/>
            <a:ext cx="384048" cy="384048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46" name="Text 37"/>
          <p:cNvSpPr/>
          <p:nvPr/>
        </p:nvSpPr>
        <p:spPr>
          <a:xfrm>
            <a:off x="66751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pic>
        <p:nvPicPr>
          <p:cNvPr id="47" name="Image 7" descr="/home/claude/proj/icons/sha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8568" y="4343400"/>
            <a:ext cx="365760" cy="36576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67512" y="4818888"/>
            <a:ext cx="2048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300" dirty="0"/>
          </a:p>
        </p:txBody>
      </p:sp>
      <p:sp>
        <p:nvSpPr>
          <p:cNvPr id="49" name="Shape 39"/>
          <p:cNvSpPr/>
          <p:nvPr/>
        </p:nvSpPr>
        <p:spPr>
          <a:xfrm>
            <a:off x="8823960" y="4718304"/>
            <a:ext cx="457200" cy="256032"/>
          </a:xfrm>
          <a:prstGeom prst="leftArrow">
            <a:avLst/>
          </a:prstGeom>
          <a:solidFill>
            <a:srgbClr val="1FC8D8"/>
          </a:solidFill>
          <a:ln/>
        </p:spPr>
      </p:sp>
      <p:sp>
        <p:nvSpPr>
          <p:cNvPr id="50" name="Shape 40"/>
          <p:cNvSpPr/>
          <p:nvPr/>
        </p:nvSpPr>
        <p:spPr>
          <a:xfrm>
            <a:off x="5879592" y="4718304"/>
            <a:ext cx="457200" cy="256032"/>
          </a:xfrm>
          <a:prstGeom prst="leftArrow">
            <a:avLst/>
          </a:prstGeom>
          <a:solidFill>
            <a:srgbClr val="1FC8D8"/>
          </a:solidFill>
          <a:ln/>
        </p:spPr>
      </p:sp>
      <p:sp>
        <p:nvSpPr>
          <p:cNvPr id="51" name="Shape 41"/>
          <p:cNvSpPr/>
          <p:nvPr/>
        </p:nvSpPr>
        <p:spPr>
          <a:xfrm>
            <a:off x="2935224" y="4718304"/>
            <a:ext cx="457200" cy="256032"/>
          </a:xfrm>
          <a:prstGeom prst="leftArrow">
            <a:avLst/>
          </a:prstGeom>
          <a:solidFill>
            <a:srgbClr val="1FC8D8"/>
          </a:solidFill>
          <a:ln/>
        </p:spPr>
      </p:sp>
      <p:sp>
        <p:nvSpPr>
          <p:cNvPr id="52" name="Text 42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ensures the data is accurate, reliable, and ready for analysis and decision-making.</a:t>
            </a:r>
            <a:endParaRPr lang="en-US" sz="1150" dirty="0"/>
          </a:p>
        </p:txBody>
      </p:sp>
      <p:sp>
        <p:nvSpPr>
          <p:cNvPr id="53" name="Text 43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54" name="Text 44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Visualizations / Components Used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3332" y="1700784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7" name="Image 0" descr="/home/claude/proj/icons/k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784" y="1841236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" y="27614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glance: total financial loss, affected users, attack volume, and average resolution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82696" y="1481328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3108" y="1700784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2" name="Image 1" descr="/home/claude/proj/icons/bar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3560" y="1841236"/>
            <a:ext cx="304312" cy="304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9856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47288" y="27614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attack types side by side and ranks the most frequent and costly cyber attacks.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62472" y="1481328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72884" y="1700784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7" name="Image 2" descr="/home/claude/proj/icons/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3336" y="1841236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9632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227064" y="27614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risk-level and attack-source distributions to highlight where exposure is concentrated.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842248" y="1481328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52660" y="1700784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22" name="Image 3" descr="/home/claude/proj/icons/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112" y="1841236"/>
            <a:ext cx="304312" cy="304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79408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006840" y="2761488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year-wise attack and financial-loss trends to reveal how threats have escalated over time.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02920" y="3648456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513332" y="386791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27" name="Image 4" descr="/home/claude/proj/icons/matri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784" y="4008364"/>
            <a:ext cx="304312" cy="304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40080" y="4562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Table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67512" y="492861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Cross-tabulates Attack Types with Risk Levels to quickly spot the highest-risk categories.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82696" y="3648456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293108" y="386791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32" name="Image 5" descr="/home/claude/proj/icons/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3560" y="4008364"/>
            <a:ext cx="304312" cy="304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419856" y="4562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Visualization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3447288" y="492861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geographical distribution of cybersecurity incidents across affected countries.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6062472" y="3648456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072884" y="386791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37" name="Image 6" descr="/home/claude/proj/icons/slic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3336" y="4008364"/>
            <a:ext cx="304312" cy="3043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99632" y="4562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227064" y="492861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Year, Country, Risk Level, and Attack Source for fast, focused exploration.</a:t>
            </a:r>
            <a:endParaRPr lang="en-US" sz="950" dirty="0"/>
          </a:p>
        </p:txBody>
      </p:sp>
      <p:sp>
        <p:nvSpPr>
          <p:cNvPr id="40" name="Shape 40"/>
          <p:cNvSpPr/>
          <p:nvPr/>
        </p:nvSpPr>
        <p:spPr>
          <a:xfrm>
            <a:off x="8842248" y="3648456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852660" y="386791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46" name="Image 8" descr="/home/claude/proj/icons/tree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3112" y="4008364"/>
            <a:ext cx="304312" cy="30431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8979408" y="4562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250" dirty="0"/>
          </a:p>
        </p:txBody>
      </p:sp>
      <p:sp>
        <p:nvSpPr>
          <p:cNvPr id="42" name="Text 33"/>
          <p:cNvSpPr/>
          <p:nvPr/>
        </p:nvSpPr>
        <p:spPr>
          <a:xfrm>
            <a:off x="9006840" y="4928616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incidents by industry with nested, size-coded tiles.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executed through 4 major structured milestones, each reviewed by the mentor, to ensure systematic development, validation, and final submission.  Dataset: Global Cybersecurity Threats (2015–2024) — Kaggle.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10607040" cy="27432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7" name="Shape 5"/>
          <p:cNvSpPr/>
          <p:nvPr/>
        </p:nvSpPr>
        <p:spPr>
          <a:xfrm>
            <a:off x="1627632" y="2212848"/>
            <a:ext cx="292608" cy="292608"/>
          </a:xfrm>
          <a:prstGeom prst="ellipse">
            <a:avLst/>
          </a:prstGeom>
          <a:solidFill>
            <a:srgbClr val="0E7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 2026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2542032" cy="73152"/>
          </a:xfrm>
          <a:prstGeom prst="rect">
            <a:avLst/>
          </a:prstGeom>
          <a:solidFill>
            <a:srgbClr val="0E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" y="310896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&amp; Dataset Preparation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7512" y="3767328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topic finalized, dataset collected from Kaggle, and data cleaning, standardization, and preprocessing completed using Power Query.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370832" y="2212848"/>
            <a:ext cx="292608" cy="292608"/>
          </a:xfrm>
          <a:prstGeom prst="ellipse">
            <a:avLst/>
          </a:prstGeom>
          <a:solidFill>
            <a:srgbClr val="0E7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083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46120" y="1764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Jul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26517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651760"/>
            <a:ext cx="2542032" cy="73152"/>
          </a:xfrm>
          <a:prstGeom prst="rect">
            <a:avLst/>
          </a:prstGeom>
          <a:solidFill>
            <a:srgbClr val="0E7C8A"/>
          </a:solidFill>
          <a:ln/>
        </p:spPr>
      </p:sp>
      <p:sp>
        <p:nvSpPr>
          <p:cNvPr id="20" name="Text 18"/>
          <p:cNvSpPr/>
          <p:nvPr/>
        </p:nvSpPr>
        <p:spPr>
          <a:xfrm>
            <a:off x="3410712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10712" y="310896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10712" y="3767328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Power BI dashboards developed using DAX measures, KPI cards, charts, slicers, and interactive visuals, with the data model finalized.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7114032" y="2212848"/>
            <a:ext cx="292608" cy="292608"/>
          </a:xfrm>
          <a:prstGeom prst="ellipse">
            <a:avLst/>
          </a:prstGeom>
          <a:solidFill>
            <a:srgbClr val="0E7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1764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Jul 2026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89320" y="26517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651760"/>
            <a:ext cx="2542032" cy="73152"/>
          </a:xfrm>
          <a:prstGeom prst="rect">
            <a:avLst/>
          </a:prstGeom>
          <a:solidFill>
            <a:srgbClr val="0E7C8A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53912" y="310896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 &amp; Validation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53912" y="3767328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five interactive dashboards completed; visuals, DAX calculations, and cross-filtering validated across all pages for accuracy.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9857232" y="2212848"/>
            <a:ext cx="292608" cy="292608"/>
          </a:xfrm>
          <a:prstGeom prst="ellipse">
            <a:avLst/>
          </a:prstGeom>
          <a:solidFill>
            <a:srgbClr val="0E7C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57232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176479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Aug 2026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732520" y="265176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32520" y="2651760"/>
            <a:ext cx="2542032" cy="73152"/>
          </a:xfrm>
          <a:prstGeom prst="rect">
            <a:avLst/>
          </a:prstGeom>
          <a:solidFill>
            <a:srgbClr val="0E7C8A"/>
          </a:solidFill>
          <a:ln/>
        </p:spPr>
      </p:sp>
      <p:sp>
        <p:nvSpPr>
          <p:cNvPr id="36" name="Text 34"/>
          <p:cNvSpPr/>
          <p:nvPr/>
        </p:nvSpPr>
        <p:spPr>
          <a:xfrm>
            <a:off x="8897112" y="283464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97112" y="3108960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 &amp; Submission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897112" y="3767328"/>
            <a:ext cx="2212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(Severity &amp; Financial Impact) and 7th (Pattern Radar) dashboards completed; all seven pages reviewed end-to-end, then the final report and PPT submitted.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0B1424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5367528"/>
            <a:ext cx="2795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502920" y="5769864"/>
            <a:ext cx="2795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Duration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98698" y="5367528"/>
            <a:ext cx="2795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3298698" y="5769864"/>
            <a:ext cx="2795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Delivered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094476" y="5367528"/>
            <a:ext cx="2795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3,001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094476" y="5769864"/>
            <a:ext cx="2795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890254" y="5367528"/>
            <a:ext cx="27957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Aug 2026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8890254" y="5769864"/>
            <a:ext cx="2795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 — First 5 Dashboards</a:t>
            </a:r>
            <a:endParaRPr lang="en-US" sz="2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1000" i="1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53312"/>
            <a:ext cx="3529584" cy="2267712"/>
          </a:xfrm>
          <a:prstGeom prst="roundRect">
            <a:avLst>
              <a:gd name="adj" fmla="val 2419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6" name="Image 0" descr="/home/claude/proj/assets/dash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17" y="1444752"/>
            <a:ext cx="3225789" cy="18105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9184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Cybersecurity Dashboard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97096" y="1353312"/>
            <a:ext cx="3529584" cy="2267712"/>
          </a:xfrm>
          <a:prstGeom prst="roundRect">
            <a:avLst>
              <a:gd name="adj" fmla="val 2419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9" name="Image 1" descr="/home/claude/proj/assets/dash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0846" y="1444752"/>
            <a:ext cx="3242084" cy="18105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88536" y="329184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Cyber Attack &amp; Threat Analysis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891272" y="1353312"/>
            <a:ext cx="3529584" cy="2267712"/>
          </a:xfrm>
          <a:prstGeom prst="roundRect">
            <a:avLst>
              <a:gd name="adj" fmla="val 2419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2" name="Image 2" descr="/home/claude/proj/assets/dash3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195" y="1444752"/>
            <a:ext cx="3237739" cy="18105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82712" y="3291840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Industry Risk Profile Analysis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3785616"/>
            <a:ext cx="3529584" cy="2267712"/>
          </a:xfrm>
          <a:prstGeom prst="roundRect">
            <a:avLst>
              <a:gd name="adj" fmla="val 2419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5" name="Image 3" descr="/home/claude/proj/assets/dash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28" y="3877056"/>
            <a:ext cx="3222168" cy="18105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" y="572414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Country Deep Dive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197096" y="3785616"/>
            <a:ext cx="3529584" cy="2267712"/>
          </a:xfrm>
          <a:prstGeom prst="roundRect">
            <a:avLst>
              <a:gd name="adj" fmla="val 2419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8" name="Image 4" descr="/home/claude/proj/assets/dash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387" y="3877056"/>
            <a:ext cx="3197002" cy="18105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88536" y="5724144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Vulnerability &amp; Defense Insights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7891272" y="3785616"/>
            <a:ext cx="3529584" cy="2267712"/>
          </a:xfrm>
          <a:prstGeom prst="roundRect">
            <a:avLst>
              <a:gd name="adj" fmla="val 2823"/>
            </a:avLst>
          </a:prstGeom>
          <a:solidFill>
            <a:srgbClr val="0B1424"/>
          </a:solidFill>
          <a:ln/>
        </p:spPr>
      </p:sp>
      <p:sp>
        <p:nvSpPr>
          <p:cNvPr id="21" name="Text 14"/>
          <p:cNvSpPr/>
          <p:nvPr/>
        </p:nvSpPr>
        <p:spPr>
          <a:xfrm>
            <a:off x="7891272" y="3950208"/>
            <a:ext cx="3529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15"/>
          <p:cNvSpPr/>
          <p:nvPr/>
        </p:nvSpPr>
        <p:spPr>
          <a:xfrm>
            <a:off x="8092440" y="4608576"/>
            <a:ext cx="31272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completed and validated in Milestone 3 — covering executive KPIs, attack &amp; threat analysis, industry risk profiling, country-wise deep dives, and vulnerability &amp; defense insights. Together they combine 20+ charts, maps, and matrices, all connected through shared slicers and DAX measures for real-time, cross-filtered exploration of the dataset.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02920" y="61264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dashboard was reviewed for data accuracy, visual clarity, and drill-through interactivity before sign-off, and every KPI, chart, and slicer was cross-checked against the cleaned dataset to confirm consistent, decision-ready numbers across all five pages.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Dashboards &amp; Submission — Dashboards 6 &amp; 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6" name="Image 0" descr="/home/claude/proj/assets/dash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32920"/>
            <a:ext cx="5193792" cy="282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501091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Severity &amp; Financial Impact Analysis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" y="532180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incidents by cost and risk across industries, attack sources, and countries, using severity scoring and financial-loss KPIs to surface the highest-priority threats.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217920" y="1417320"/>
            <a:ext cx="5468112" cy="4434840"/>
          </a:xfrm>
          <a:prstGeom prst="roundRect">
            <a:avLst>
              <a:gd name="adj" fmla="val 1443"/>
            </a:avLst>
          </a:prstGeom>
          <a:solidFill>
            <a:srgbClr val="0B1424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0" name="Image 1" descr="/home/claude/proj/assets/dash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24643"/>
            <a:ext cx="5193792" cy="28429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19088" y="5010912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Pattern Radar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19088" y="5321808"/>
            <a:ext cx="5065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loss trends with forecasting, a risk-level funnel, and cumulative high-risk incidents, revealing recurring attack patterns and how they evolve year over year.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502920" y="5980176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dashboards were validated end-to-end for data accuracy and visual consistency, then compiled with the final project report and presentation for submission.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WE SOLVED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and Resolutions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1118311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847088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7" name="Image 0" descr="/home/claude/proj/icons/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40" y="1987540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63624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STANDARDIZATION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389120" y="1563624"/>
            <a:ext cx="3429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E4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contained inconsistent values, unwanted spaces, duplicate/invalid records, and variations in country names.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927848" y="1600200"/>
            <a:ext cx="0" cy="10789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1563624"/>
            <a:ext cx="3346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Editor to clean the data, correct data types, trim spaces, standardize country names, and filter invalid records.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3026664"/>
            <a:ext cx="1118311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3456432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4" name="Image 1" descr="/home/claude/proj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0" y="3596884"/>
            <a:ext cx="304312" cy="304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3172968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CATEGORIES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389120" y="3172968"/>
            <a:ext cx="3429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E4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necessary to classify incidents into meaningful categories such as Risk Level and Resolution Speed.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927848" y="3209544"/>
            <a:ext cx="0" cy="10789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3172968"/>
            <a:ext cx="3346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conditional columns in Power Query using financial loss, affected users, and resolution time to classify incidents.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2920" y="4636008"/>
            <a:ext cx="1118311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4088" y="5065776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21" name="Image 2" descr="/home/claude/proj/icons/lay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40" y="5206228"/>
            <a:ext cx="304312" cy="304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63040" y="4782312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INTERACTIVE DASHBOARDS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389120" y="4782312"/>
            <a:ext cx="34290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E4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suitable visualizations and arranging large amounts of cybersecurity information clearly was challenging.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927848" y="4818888"/>
            <a:ext cx="0" cy="1078992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38160" y="4782312"/>
            <a:ext cx="33467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
</a:t>
            </a:r>
            <a:endParaRPr lang="en-US" sz="950" dirty="0"/>
          </a:p>
          <a:p>
            <a:pPr marL="0" indent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appropriate Power BI visuals — bar, donut, line charts, maps, treemaps, matrices, KPI cards, and slicers — then validated and tested.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0B1424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" y="165506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7" name="Image 0" descr="/home/claude/proj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77576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1691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2441448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3225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2843784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data cleaning &amp; transformation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" y="3246120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and KPIs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3648456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4050792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visualization design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" y="4453128"/>
            <a:ext cx="100584" cy="100584"/>
          </a:xfrm>
          <a:prstGeom prst="ellipse">
            <a:avLst/>
          </a:prstGeom>
          <a:solidFill>
            <a:srgbClr val="1FC8D8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4334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data analysis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45352" y="14173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01384" y="165506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9800F"/>
          </a:solidFill>
          <a:ln/>
        </p:spPr>
      </p:sp>
      <p:pic>
        <p:nvPicPr>
          <p:cNvPr id="23" name="Image 1" descr="/home/claude/proj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1775765"/>
            <a:ext cx="261518" cy="26151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41464" y="16916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6519672" y="2441448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26" name="Text 22"/>
          <p:cNvSpPr/>
          <p:nvPr/>
        </p:nvSpPr>
        <p:spPr>
          <a:xfrm>
            <a:off x="6748272" y="23225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19672" y="2843784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28" name="Text 24"/>
          <p:cNvSpPr/>
          <p:nvPr/>
        </p:nvSpPr>
        <p:spPr>
          <a:xfrm>
            <a:off x="6748272" y="27249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519672" y="3246120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30" name="Text 26"/>
          <p:cNvSpPr/>
          <p:nvPr/>
        </p:nvSpPr>
        <p:spPr>
          <a:xfrm>
            <a:off x="6748272" y="31272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519672" y="3648456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32" name="Text 28"/>
          <p:cNvSpPr/>
          <p:nvPr/>
        </p:nvSpPr>
        <p:spPr>
          <a:xfrm>
            <a:off x="6748272" y="3529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519672" y="4050792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34" name="Text 30"/>
          <p:cNvSpPr/>
          <p:nvPr/>
        </p:nvSpPr>
        <p:spPr>
          <a:xfrm>
            <a:off x="6748272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519672" y="4453128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36" name="Text 32"/>
          <p:cNvSpPr/>
          <p:nvPr/>
        </p:nvSpPr>
        <p:spPr>
          <a:xfrm>
            <a:off x="6748272" y="4334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and documentation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502920" y="5001768"/>
            <a:ext cx="11183112" cy="896112"/>
          </a:xfrm>
          <a:prstGeom prst="roundRect">
            <a:avLst>
              <a:gd name="adj" fmla="val 8163"/>
            </a:avLst>
          </a:prstGeom>
          <a:solidFill>
            <a:srgbClr val="F2F5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77240" y="5093208"/>
            <a:ext cx="10634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provided practical experience in transforming real-world cybersecurity data into meaningful business intelligence dashboards — strengthening my technical, analytical, communication, teamwork, and problem-solving skills.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16824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7" name="Image 0" descr="/home/claude/proj/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54" y="1814170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" y="237744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CYBERSECURITY DATA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67512" y="28529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security incident data for continuous monitoring.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28416" y="146304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9976" y="16824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12" name="Image 1" descr="/home/claude/proj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50" y="181417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37744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93008" y="28529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analytics and ML to identify potential threats and forecast risks.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6153912" y="146304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05472" y="16824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17" name="Image 2" descr="/home/claude/proj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7146" y="181417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0216" y="237744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18504" y="28529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automated notifications for high-risk incidents and unusual patterns.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8979408" y="1463040"/>
            <a:ext cx="26517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30968" y="1682496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22" name="Image 3" descr="/home/claude/proj/icons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2642" y="181417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25712" y="2377440"/>
            <a:ext cx="2359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POWER BI FEATURES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144000" y="2852928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3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role-based access, drill-through reports, and cloud deployment.</a:t>
            </a:r>
            <a:endParaRPr lang="en-US" sz="930" dirty="0"/>
          </a:p>
        </p:txBody>
      </p:sp>
      <p:sp>
        <p:nvSpPr>
          <p:cNvPr id="25" name="Shape 19"/>
          <p:cNvSpPr/>
          <p:nvPr/>
        </p:nvSpPr>
        <p:spPr>
          <a:xfrm>
            <a:off x="502920" y="3858768"/>
            <a:ext cx="11183112" cy="1600200"/>
          </a:xfrm>
          <a:prstGeom prst="roundRect">
            <a:avLst>
              <a:gd name="adj" fmla="val 4571"/>
            </a:avLst>
          </a:prstGeom>
          <a:solidFill>
            <a:srgbClr val="0B1424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77240" y="43891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97280" y="437083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data becomes easier to understand when converted into interactive visualizations.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777240" y="47365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097280" y="4718304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financial impact, affected users, and attack patterns should be analyzed together.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77240" y="50840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1097280" y="5065776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support faster and more informed cybersecurity decision-making.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956816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7" name="Image 0" descr="/home/claude/proj/icons/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594" y="2075322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54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25880" y="18928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transformed ten years of global cybersecurity data into seven interactive Power BI dashboards.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6217920" y="1417320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19088" y="1956816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2" name="Image 1" descr="/home/claude/proj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594" y="2075322"/>
            <a:ext cx="256764" cy="256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554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/ TECHNICAL IMPACT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040880" y="1892808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in data collection, preprocessing, Power Query, DAX, data modeling, and visualization.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02920" y="3172968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04088" y="3712464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17" name="Image 2" descr="/home/claude/proj/icons/fac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594" y="3830970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3101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/ PRACTICAL EXPERIENCE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325880" y="3648456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identify attack trends, high-risk industries and countries, financial losses, and defense mechanisms.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6217920" y="3172968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19088" y="3712464"/>
            <a:ext cx="493776" cy="493776"/>
          </a:xfrm>
          <a:prstGeom prst="roundRect">
            <a:avLst>
              <a:gd name="adj" fmla="val 22000"/>
            </a:avLst>
          </a:prstGeom>
          <a:solidFill>
            <a:srgbClr val="0B1424"/>
          </a:solidFill>
          <a:ln/>
        </p:spPr>
      </p:sp>
      <p:pic>
        <p:nvPicPr>
          <p:cNvPr id="22" name="Image 3" descr="/home/claude/proj/icons/tre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594" y="3830970"/>
            <a:ext cx="256764" cy="2567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31012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040880" y="3648456"/>
            <a:ext cx="4434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Business Intelligence and Power BI convert complex cybersecurity data into actionable insights.</a:t>
            </a:r>
            <a:endParaRPr lang="en-US" sz="980" dirty="0"/>
          </a:p>
        </p:txBody>
      </p:sp>
      <p:sp>
        <p:nvSpPr>
          <p:cNvPr id="25" name="Shape 19"/>
          <p:cNvSpPr/>
          <p:nvPr/>
        </p:nvSpPr>
        <p:spPr>
          <a:xfrm>
            <a:off x="502920" y="5001768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B1424"/>
          </a:solidFill>
          <a:ln/>
        </p:spPr>
      </p:sp>
      <p:sp>
        <p:nvSpPr>
          <p:cNvPr id="26" name="Text 20"/>
          <p:cNvSpPr/>
          <p:nvPr/>
        </p:nvSpPr>
        <p:spPr>
          <a:xfrm>
            <a:off x="502920" y="5001768"/>
            <a:ext cx="2236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50" dirty="0"/>
          </a:p>
        </p:txBody>
      </p:sp>
      <p:pic>
        <p:nvPicPr>
          <p:cNvPr id="27" name="Image 4" descr="/home/claude/proj/icons/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0086" y="527608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39542" y="5001768"/>
            <a:ext cx="2236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50" dirty="0"/>
          </a:p>
        </p:txBody>
      </p:sp>
      <p:pic>
        <p:nvPicPr>
          <p:cNvPr id="29" name="Image 5" descr="/home/claude/proj/icons/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6709" y="52760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76165" y="5001768"/>
            <a:ext cx="2236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pic>
        <p:nvPicPr>
          <p:cNvPr id="31" name="Image 6" descr="/home/claude/proj/icons/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3331" y="527608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212787" y="5001768"/>
            <a:ext cx="2236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50" dirty="0"/>
          </a:p>
        </p:txBody>
      </p:sp>
      <p:pic>
        <p:nvPicPr>
          <p:cNvPr id="33" name="Image 7" descr="/home/claude/proj/icons/arr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9954" y="5276088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449410" y="5001768"/>
            <a:ext cx="22366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GRATITUDE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and References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1183112" cy="16459"/>
          </a:xfrm>
          <a:prstGeom prst="rect">
            <a:avLst/>
          </a:prstGeom>
          <a:solidFill>
            <a:srgbClr val="DCE3EE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70078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B9800F"/>
          </a:solidFill>
          <a:ln/>
        </p:spPr>
      </p:sp>
      <p:pic>
        <p:nvPicPr>
          <p:cNvPr id="7" name="Image 0" descr="/home/claude/proj/icons/he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821485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23774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would like to express my heartfelt gratitude to: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852928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2715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Team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7240" y="3364992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2278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Mrs. Nithyasri S J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3877056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73989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members — Group 1, Team B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77240" y="4389120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251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 and community resources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7240" y="4901184"/>
            <a:ext cx="100584" cy="100584"/>
          </a:xfrm>
          <a:prstGeom prst="ellipse">
            <a:avLst/>
          </a:prstGeom>
          <a:solidFill>
            <a:srgbClr val="B9800F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7640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for providing access to the cybersecurity dataset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45352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0B1424"/>
          </a:solidFill>
          <a:ln/>
        </p:spPr>
      </p:sp>
      <p:sp>
        <p:nvSpPr>
          <p:cNvPr id="21" name="Shape 18"/>
          <p:cNvSpPr/>
          <p:nvPr/>
        </p:nvSpPr>
        <p:spPr>
          <a:xfrm>
            <a:off x="6501384" y="170078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0E7C8A"/>
          </a:solidFill>
          <a:ln/>
        </p:spPr>
      </p:sp>
      <p:pic>
        <p:nvPicPr>
          <p:cNvPr id="22" name="Image 1" descr="/home/claude/proj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1821485"/>
            <a:ext cx="261518" cy="26151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41464" y="17373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519672" y="25146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39712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Cybersecurity Threats (2015–2024) Dataset — Kaggle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19672" y="30815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839712" y="30815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Documentation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19672" y="364845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839712" y="36484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Query / DAX resources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217920" cy="6217920"/>
          </a:xfrm>
          <a:prstGeom prst="ellipse">
            <a:avLst/>
          </a:prstGeom>
          <a:solidFill>
            <a:srgbClr val="13203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480560"/>
            <a:ext cx="5120640" cy="5120640"/>
          </a:xfrm>
          <a:prstGeom prst="ellipse">
            <a:avLst/>
          </a:prstGeom>
          <a:solidFill>
            <a:srgbClr val="1B2C4A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41732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32038"/>
          </a:solidFill>
          <a:ln/>
        </p:spPr>
      </p:sp>
      <p:pic>
        <p:nvPicPr>
          <p:cNvPr id="5" name="Image 0" descr="/home/claude/proj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163677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38648" y="1417320"/>
            <a:ext cx="914400" cy="914400"/>
          </a:xfrm>
          <a:prstGeom prst="roundRect">
            <a:avLst>
              <a:gd name="adj" fmla="val 22000"/>
            </a:avLst>
          </a:prstGeom>
          <a:ln w="19050">
            <a:solidFill>
              <a:srgbClr val="1FC8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65176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5090008" y="3520440"/>
            <a:ext cx="2011680" cy="0"/>
          </a:xfrm>
          <a:prstGeom prst="line">
            <a:avLst/>
          </a:prstGeom>
          <a:noFill/>
          <a:ln w="19050">
            <a:solidFill>
              <a:srgbClr val="1FC8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Narayani Kantamreddy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– Group 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6177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Infosys Springboard Virtual Internship 7.0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652881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Threat Analytics Platform With Incident Visualization System — Group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92840" y="65288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1679</Words>
  <Application>Microsoft Office PowerPoint</Application>
  <PresentationFormat>Widescreen</PresentationFormat>
  <Paragraphs>258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narayani kantamreddy</cp:lastModifiedBy>
  <cp:revision>2</cp:revision>
  <dcterms:created xsi:type="dcterms:W3CDTF">2026-08-16T05:08:15Z</dcterms:created>
  <dcterms:modified xsi:type="dcterms:W3CDTF">2026-08-16T06:05:58Z</dcterms:modified>
</cp:coreProperties>
</file>